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5"/>
  </p:handoutMasterIdLst>
  <p:sldIdLst>
    <p:sldId id="256" r:id="rId3"/>
    <p:sldId id="259" r:id="rId5"/>
    <p:sldId id="284" r:id="rId6"/>
    <p:sldId id="260" r:id="rId7"/>
    <p:sldId id="274" r:id="rId8"/>
    <p:sldId id="285" r:id="rId9"/>
    <p:sldId id="289" r:id="rId10"/>
    <p:sldId id="301" r:id="rId11"/>
    <p:sldId id="302" r:id="rId12"/>
    <p:sldId id="303" r:id="rId13"/>
    <p:sldId id="286" r:id="rId14"/>
    <p:sldId id="305" r:id="rId15"/>
    <p:sldId id="306" r:id="rId16"/>
    <p:sldId id="307" r:id="rId17"/>
    <p:sldId id="309" r:id="rId18"/>
    <p:sldId id="310" r:id="rId19"/>
    <p:sldId id="308" r:id="rId20"/>
    <p:sldId id="311" r:id="rId21"/>
    <p:sldId id="287" r:id="rId22"/>
    <p:sldId id="312" r:id="rId23"/>
    <p:sldId id="288" r:id="rId24"/>
  </p:sldIdLst>
  <p:sldSz cx="9144000" cy="5143500" type="screen16x9"/>
  <p:notesSz cx="6858000" cy="9144000"/>
  <p:embeddedFontLst>
    <p:embeddedFont>
      <p:font typeface="微软雅黑" pitchFamily="34" charset="-122"/>
      <p:regular r:id="rId29"/>
    </p:embeddedFont>
    <p:embeddedFont>
      <p:font typeface="Calibri" panose="020F0502020204030204" charset="0"/>
      <p:regular r:id="rId30"/>
    </p:embeddedFont>
  </p:embeddedFontLst>
  <p:custDataLst>
    <p:tags r:id="rId31"/>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8" userDrawn="1">
          <p15:clr>
            <a:srgbClr val="A4A3A4"/>
          </p15:clr>
        </p15:guide>
        <p15:guide id="2" orient="horz" pos="1824" userDrawn="1">
          <p15:clr>
            <a:srgbClr val="A4A3A4"/>
          </p15:clr>
        </p15:guide>
        <p15:guide id="3" pos="31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495E"/>
    <a:srgbClr val="232323"/>
    <a:srgbClr val="FAFAFA"/>
    <a:srgbClr val="DCE3E8"/>
    <a:srgbClr val="D9E2EB"/>
    <a:srgbClr val="848484"/>
    <a:srgbClr val="9B9B9B"/>
    <a:srgbClr val="F0F0F0"/>
    <a:srgbClr val="F6F4F7"/>
    <a:srgbClr val="192A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48" d="100"/>
          <a:sy n="148" d="100"/>
        </p:scale>
        <p:origin x="516" y="114"/>
      </p:cViewPr>
      <p:guideLst>
        <p:guide orient="horz" pos="2218"/>
        <p:guide orient="horz" pos="1824"/>
        <p:guide pos="3146"/>
      </p:guideLst>
    </p:cSldViewPr>
  </p:slideViewPr>
  <p:notesTextViewPr>
    <p:cViewPr>
      <p:scale>
        <a:sx n="1" d="1"/>
        <a:sy n="1" d="1"/>
      </p:scale>
      <p:origin x="0" y="0"/>
    </p:cViewPr>
  </p:notesTextViewPr>
  <p:notesViewPr>
    <p:cSldViewPr snapToGrid="0">
      <p:cViewPr varScale="1">
        <p:scale>
          <a:sx n="84" d="100"/>
          <a:sy n="84" d="100"/>
        </p:scale>
        <p:origin x="-3888" y="-72"/>
      </p:cViewPr>
      <p:guideLst>
        <p:guide orient="horz" pos="3025"/>
        <p:guide pos="209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22.xml"/><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矩形 4"/>
          <p:cNvSpPr/>
          <p:nvPr userDrawn="1"/>
        </p:nvSpPr>
        <p:spPr>
          <a:xfrm>
            <a:off x="577228" y="1023443"/>
            <a:ext cx="468000" cy="28800"/>
          </a:xfrm>
          <a:prstGeom prst="rect">
            <a:avLst/>
          </a:prstGeom>
          <a:solidFill>
            <a:srgbClr val="334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495E"/>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369219"/>
            <a:ext cx="3886200" cy="326350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369219"/>
            <a:ext cx="3886200" cy="326350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0"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0" y="1999034"/>
            <a:ext cx="3655181" cy="264321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1999034"/>
            <a:ext cx="3673182" cy="264321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pic>
        <p:nvPicPr>
          <p:cNvPr id="2051" name="图片 7" descr="/Users/zhao/Library/Containers/com.kingsoft.wpsoffice.mac/Data/tmp/photoeditapp/20250320205244/temp.pngtemp"/>
          <p:cNvPicPr>
            <a:picLocks noChangeAspect="1"/>
          </p:cNvPicPr>
          <p:nvPr userDrawn="1"/>
        </p:nvPicPr>
        <p:blipFill>
          <a:blip r:embed="rId2"/>
          <a:stretch>
            <a:fillRect/>
          </a:stretch>
        </p:blipFill>
        <p:spPr>
          <a:xfrm>
            <a:off x="398780" y="344170"/>
            <a:ext cx="2138130" cy="61560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pic>
        <p:nvPicPr>
          <p:cNvPr id="2051" name="图片 7" descr="/Users/zhao/Library/Containers/com.kingsoft.wpsoffice.mac/Data/tmp/photoeditapp/20250320205244/temp.pngtemp"/>
          <p:cNvPicPr>
            <a:picLocks noChangeAspect="1"/>
          </p:cNvPicPr>
          <p:nvPr userDrawn="1"/>
        </p:nvPicPr>
        <p:blipFill>
          <a:blip r:embed="rId2"/>
          <a:stretch>
            <a:fillRect/>
          </a:stretch>
        </p:blipFill>
        <p:spPr>
          <a:xfrm>
            <a:off x="395605" y="344805"/>
            <a:ext cx="2138130" cy="61560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342901"/>
            <a:ext cx="4629150" cy="4052888"/>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3124012" cy="2858691"/>
          </a:xfrm>
        </p:spPr>
        <p:txBody>
          <a:bodyPr/>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44"/>
            <a:ext cx="7886700" cy="4358879"/>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image" Target="../media/image2.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68580" tIns="34290" rIns="68580" bIns="3429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7D9BB5D0-35E4-459D-AEF3-FE4D7C45CC19}" type="slidenum">
              <a:rPr lang="zh-CN" altLang="en-US" smtClean="0"/>
            </a:fld>
            <a:endParaRPr lang="zh-CN" altLang="en-US"/>
          </a:p>
        </p:txBody>
      </p:sp>
      <p:pic>
        <p:nvPicPr>
          <p:cNvPr id="2051" name="图片 7" descr="/Users/zhao/Library/Containers/com.kingsoft.wpsoffice.mac/Data/tmp/photoeditapp/20250320205244/temp.pngtemp"/>
          <p:cNvPicPr>
            <a:picLocks noChangeAspect="1"/>
          </p:cNvPicPr>
          <p:nvPr userDrawn="1"/>
        </p:nvPicPr>
        <p:blipFill>
          <a:blip r:embed="rId12"/>
          <a:stretch>
            <a:fillRect/>
          </a:stretch>
        </p:blipFill>
        <p:spPr>
          <a:xfrm>
            <a:off x="379730" y="327660"/>
            <a:ext cx="2138130" cy="6156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7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7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7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7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7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7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7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7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7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notesSlide" Target="../notesSlides/notesSlide4.xml"/><Relationship Id="rId11" Type="http://schemas.openxmlformats.org/officeDocument/2006/relationships/slideLayout" Target="../slideLayouts/slideLayout2.xml"/><Relationship Id="rId10" Type="http://schemas.openxmlformats.org/officeDocument/2006/relationships/tags" Target="../tags/tag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5.e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4" Type="http://schemas.openxmlformats.org/officeDocument/2006/relationships/slideLayout" Target="../slideLayouts/slideLayout7.xml"/><Relationship Id="rId13" Type="http://schemas.openxmlformats.org/officeDocument/2006/relationships/image" Target="../media/image8.png"/><Relationship Id="rId12" Type="http://schemas.openxmlformats.org/officeDocument/2006/relationships/image" Target="../media/image7.png"/><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550545" y="1362710"/>
            <a:ext cx="7898130" cy="1320800"/>
          </a:xfrm>
          <a:prstGeom prst="rect">
            <a:avLst/>
          </a:prstGeom>
          <a:noFill/>
        </p:spPr>
        <p:txBody>
          <a:bodyPr wrap="square" lIns="91413" tIns="45706" rIns="91413" bIns="45706" rtlCol="0">
            <a:spAutoFit/>
          </a:bodyPr>
          <a:lstStyle/>
          <a:p>
            <a:pPr algn="ctr"/>
            <a:r>
              <a:rPr lang="zh-CN" altLang="en-US" sz="4000" dirty="0">
                <a:solidFill>
                  <a:srgbClr val="33495E"/>
                </a:solidFill>
                <a:latin typeface="+mn-ea"/>
              </a:rPr>
              <a:t>不同在线社交线索下的社会科学</a:t>
            </a:r>
            <a:endParaRPr lang="zh-CN" altLang="en-US" sz="4000" dirty="0">
              <a:solidFill>
                <a:srgbClr val="33495E"/>
              </a:solidFill>
              <a:latin typeface="+mn-ea"/>
            </a:endParaRPr>
          </a:p>
          <a:p>
            <a:pPr algn="ctr"/>
            <a:r>
              <a:rPr lang="zh-CN" altLang="en-US" sz="4000" dirty="0">
                <a:solidFill>
                  <a:srgbClr val="33495E"/>
                </a:solidFill>
                <a:latin typeface="+mn-ea"/>
              </a:rPr>
              <a:t>数据复用行为特征研究</a:t>
            </a:r>
            <a:endParaRPr lang="zh-CN" altLang="en-US" sz="4000" dirty="0">
              <a:solidFill>
                <a:srgbClr val="33495E"/>
              </a:solidFill>
              <a:latin typeface="+mn-ea"/>
            </a:endParaRPr>
          </a:p>
        </p:txBody>
      </p:sp>
      <p:sp>
        <p:nvSpPr>
          <p:cNvPr id="31" name="TextBox 30"/>
          <p:cNvSpPr txBox="1"/>
          <p:nvPr/>
        </p:nvSpPr>
        <p:spPr>
          <a:xfrm>
            <a:off x="477520" y="2712085"/>
            <a:ext cx="8030210" cy="461010"/>
          </a:xfrm>
          <a:prstGeom prst="rect">
            <a:avLst/>
          </a:prstGeom>
          <a:noFill/>
        </p:spPr>
        <p:txBody>
          <a:bodyPr wrap="square" lIns="91413" tIns="45706" rIns="91413" bIns="45706" rtlCol="0">
            <a:noAutofit/>
          </a:bodyPr>
          <a:lstStyle/>
          <a:p>
            <a:pPr algn="ctr"/>
            <a:r>
              <a:rPr lang="en-US" altLang="zh-CN" sz="1600" spc="300" dirty="0">
                <a:solidFill>
                  <a:srgbClr val="33495E"/>
                </a:solidFill>
                <a:latin typeface="+mn-ea"/>
              </a:rPr>
              <a:t>Research on the behavioral characteristics of social science data reuse under different online social cues</a:t>
            </a:r>
            <a:endParaRPr lang="en-US" altLang="zh-CN" sz="1600" spc="300" dirty="0">
              <a:solidFill>
                <a:srgbClr val="33495E"/>
              </a:solidFill>
              <a:latin typeface="+mn-ea"/>
            </a:endParaRPr>
          </a:p>
        </p:txBody>
      </p:sp>
      <p:sp>
        <p:nvSpPr>
          <p:cNvPr id="2" name="文本框 1"/>
          <p:cNvSpPr txBox="1"/>
          <p:nvPr/>
        </p:nvSpPr>
        <p:spPr>
          <a:xfrm>
            <a:off x="2791460" y="902335"/>
            <a:ext cx="3664585" cy="460375"/>
          </a:xfrm>
          <a:prstGeom prst="rect">
            <a:avLst/>
          </a:prstGeom>
          <a:noFill/>
        </p:spPr>
        <p:txBody>
          <a:bodyPr wrap="square" rtlCol="0">
            <a:spAutoFit/>
          </a:bodyPr>
          <a:p>
            <a:r>
              <a:rPr lang="en-US" altLang="zh-CN" sz="2400">
                <a:solidFill>
                  <a:schemeClr val="accent1"/>
                </a:solidFill>
                <a:latin typeface="微软雅黑" pitchFamily="34" charset="-122"/>
                <a:ea typeface="微软雅黑" pitchFamily="34" charset="-122"/>
                <a:cs typeface="微软雅黑" pitchFamily="34" charset="-122"/>
                <a:sym typeface="+mn-ea"/>
              </a:rPr>
              <a:t>2021</a:t>
            </a:r>
            <a:r>
              <a:rPr lang="zh-CN" altLang="en-US" sz="2400">
                <a:solidFill>
                  <a:schemeClr val="accent1"/>
                </a:solidFill>
                <a:latin typeface="微软雅黑" pitchFamily="34" charset="-122"/>
                <a:ea typeface="微软雅黑" pitchFamily="34" charset="-122"/>
                <a:cs typeface="微软雅黑" pitchFamily="34" charset="-122"/>
                <a:sym typeface="+mn-ea"/>
              </a:rPr>
              <a:t>级毕业设计中期检查</a:t>
            </a:r>
            <a:endParaRPr lang="zh-CN" altLang="en-US" sz="2400"/>
          </a:p>
        </p:txBody>
      </p:sp>
      <p:grpSp>
        <p:nvGrpSpPr>
          <p:cNvPr id="7" name="组合 6"/>
          <p:cNvGrpSpPr/>
          <p:nvPr/>
        </p:nvGrpSpPr>
        <p:grpSpPr>
          <a:xfrm>
            <a:off x="3295015" y="3344545"/>
            <a:ext cx="2963545" cy="1223645"/>
            <a:chOff x="4848" y="4822"/>
            <a:chExt cx="4667" cy="1927"/>
          </a:xfrm>
        </p:grpSpPr>
        <p:sp>
          <p:nvSpPr>
            <p:cNvPr id="3" name="文本框 2"/>
            <p:cNvSpPr txBox="1"/>
            <p:nvPr/>
          </p:nvSpPr>
          <p:spPr>
            <a:xfrm>
              <a:off x="4848" y="4822"/>
              <a:ext cx="1373" cy="1927"/>
            </a:xfrm>
            <a:prstGeom prst="rect">
              <a:avLst/>
            </a:prstGeom>
            <a:noFill/>
          </p:spPr>
          <p:txBody>
            <a:bodyPr wrap="square" rtlCol="0">
              <a:noAutofit/>
            </a:bodyPr>
            <a:p>
              <a:pPr algn="dist">
                <a:lnSpc>
                  <a:spcPct val="120000"/>
                </a:lnSpc>
              </a:pPr>
              <a:r>
                <a:rPr lang="zh-CN" altLang="en-US">
                  <a:latin typeface="汉仪文黑-55简" panose="00020600040101010101" charset="-122"/>
                  <a:ea typeface="汉仪文黑-55简" panose="00020600040101010101" charset="-122"/>
                </a:rPr>
                <a:t>汇报人</a:t>
              </a:r>
              <a:endParaRPr lang="zh-CN" altLang="en-US">
                <a:latin typeface="汉仪文黑-55简" panose="00020600040101010101" charset="-122"/>
                <a:ea typeface="汉仪文黑-55简" panose="00020600040101010101" charset="-122"/>
              </a:endParaRPr>
            </a:p>
            <a:p>
              <a:pPr algn="dist">
                <a:lnSpc>
                  <a:spcPct val="120000"/>
                </a:lnSpc>
              </a:pPr>
              <a:r>
                <a:rPr lang="zh-CN" altLang="en-US">
                  <a:latin typeface="汉仪文黑-55简" panose="00020600040101010101" charset="-122"/>
                  <a:ea typeface="汉仪文黑-55简" panose="00020600040101010101" charset="-122"/>
                </a:rPr>
                <a:t>导师</a:t>
              </a:r>
              <a:endParaRPr lang="zh-CN" altLang="en-US">
                <a:latin typeface="汉仪文黑-55简" panose="00020600040101010101" charset="-122"/>
                <a:ea typeface="汉仪文黑-55简" panose="00020600040101010101" charset="-122"/>
              </a:endParaRPr>
            </a:p>
            <a:p>
              <a:pPr algn="dist">
                <a:lnSpc>
                  <a:spcPct val="120000"/>
                </a:lnSpc>
              </a:pPr>
              <a:r>
                <a:rPr lang="zh-CN" altLang="en-US">
                  <a:latin typeface="汉仪文黑-55简" panose="00020600040101010101" charset="-122"/>
                  <a:ea typeface="汉仪文黑-55简" panose="00020600040101010101" charset="-122"/>
                </a:rPr>
                <a:t>专业</a:t>
              </a:r>
              <a:endParaRPr lang="zh-CN" altLang="en-US">
                <a:latin typeface="汉仪文黑-55简" panose="00020600040101010101" charset="-122"/>
                <a:ea typeface="汉仪文黑-55简" panose="00020600040101010101" charset="-122"/>
              </a:endParaRPr>
            </a:p>
            <a:p>
              <a:pPr algn="dist">
                <a:lnSpc>
                  <a:spcPct val="120000"/>
                </a:lnSpc>
              </a:pPr>
              <a:r>
                <a:rPr lang="zh-CN" altLang="en-US">
                  <a:latin typeface="汉仪文黑-55简" panose="00020600040101010101" charset="-122"/>
                  <a:ea typeface="汉仪文黑-55简" panose="00020600040101010101" charset="-122"/>
                </a:rPr>
                <a:t>学号</a:t>
              </a:r>
              <a:endParaRPr lang="zh-CN" altLang="en-US">
                <a:latin typeface="汉仪文黑-55简" panose="00020600040101010101" charset="-122"/>
                <a:ea typeface="汉仪文黑-55简" panose="00020600040101010101" charset="-122"/>
              </a:endParaRPr>
            </a:p>
          </p:txBody>
        </p:sp>
        <p:sp>
          <p:nvSpPr>
            <p:cNvPr id="6" name="文本框 5"/>
            <p:cNvSpPr txBox="1"/>
            <p:nvPr/>
          </p:nvSpPr>
          <p:spPr>
            <a:xfrm>
              <a:off x="6100" y="4822"/>
              <a:ext cx="3415" cy="1771"/>
            </a:xfrm>
            <a:prstGeom prst="rect">
              <a:avLst/>
            </a:prstGeom>
            <a:noFill/>
          </p:spPr>
          <p:txBody>
            <a:bodyPr wrap="square" rtlCol="0">
              <a:spAutoFit/>
            </a:bodyPr>
            <a:p>
              <a:pPr>
                <a:lnSpc>
                  <a:spcPct val="120000"/>
                </a:lnSpc>
              </a:pPr>
              <a:r>
                <a:rPr lang="zh-CN" altLang="en-US">
                  <a:latin typeface="汉仪文黑-55简" panose="00020600040101010101" charset="-122"/>
                  <a:ea typeface="汉仪文黑-55简" panose="00020600040101010101" charset="-122"/>
                  <a:cs typeface="汉仪文黑-55简" panose="00020600040101010101" charset="-122"/>
                </a:rPr>
                <a:t>：</a:t>
              </a:r>
              <a:r>
                <a:rPr lang="zh-CN" altLang="en-US">
                  <a:latin typeface="汉仪文黑-55简" panose="00020600040101010101" charset="-122"/>
                  <a:ea typeface="汉仪文黑-55简" panose="00020600040101010101" charset="-122"/>
                  <a:cs typeface="汉仪文黑-55简" panose="00020600040101010101" charset="-122"/>
                </a:rPr>
                <a:t>赵红玉</a:t>
              </a:r>
              <a:endParaRPr lang="zh-CN" altLang="en-US">
                <a:latin typeface="汉仪文黑-55简" panose="00020600040101010101" charset="-122"/>
                <a:ea typeface="汉仪文黑-55简" panose="00020600040101010101" charset="-122"/>
                <a:cs typeface="汉仪文黑-55简" panose="00020600040101010101" charset="-122"/>
              </a:endParaRPr>
            </a:p>
            <a:p>
              <a:pPr>
                <a:lnSpc>
                  <a:spcPct val="120000"/>
                </a:lnSpc>
              </a:pPr>
              <a:r>
                <a:rPr lang="zh-CN" altLang="en-US">
                  <a:latin typeface="汉仪文黑-55简" panose="00020600040101010101" charset="-122"/>
                  <a:ea typeface="汉仪文黑-55简" panose="00020600040101010101" charset="-122"/>
                  <a:cs typeface="汉仪文黑-55简" panose="00020600040101010101" charset="-122"/>
                </a:rPr>
                <a:t>：马续</a:t>
              </a:r>
              <a:r>
                <a:rPr lang="zh-CN" altLang="en-US">
                  <a:latin typeface="汉仪文黑-55简" panose="00020600040101010101" charset="-122"/>
                  <a:ea typeface="汉仪文黑-55简" panose="00020600040101010101" charset="-122"/>
                  <a:cs typeface="汉仪文黑-55简" panose="00020600040101010101" charset="-122"/>
                </a:rPr>
                <a:t>补</a:t>
              </a:r>
              <a:endParaRPr lang="zh-CN" altLang="en-US">
                <a:latin typeface="汉仪文黑-55简" panose="00020600040101010101" charset="-122"/>
                <a:ea typeface="汉仪文黑-55简" panose="00020600040101010101" charset="-122"/>
                <a:cs typeface="汉仪文黑-55简" panose="00020600040101010101" charset="-122"/>
              </a:endParaRPr>
            </a:p>
            <a:p>
              <a:pPr>
                <a:lnSpc>
                  <a:spcPct val="120000"/>
                </a:lnSpc>
              </a:pPr>
              <a:r>
                <a:rPr lang="zh-CN" altLang="en-US">
                  <a:latin typeface="汉仪文黑-55简" panose="00020600040101010101" charset="-122"/>
                  <a:ea typeface="汉仪文黑-55简" panose="00020600040101010101" charset="-122"/>
                  <a:cs typeface="汉仪文黑-55简" panose="00020600040101010101" charset="-122"/>
                </a:rPr>
                <a:t>：信息管理与信息</a:t>
              </a:r>
              <a:r>
                <a:rPr lang="zh-CN" altLang="en-US">
                  <a:latin typeface="汉仪文黑-55简" panose="00020600040101010101" charset="-122"/>
                  <a:ea typeface="汉仪文黑-55简" panose="00020600040101010101" charset="-122"/>
                  <a:cs typeface="汉仪文黑-55简" panose="00020600040101010101" charset="-122"/>
                </a:rPr>
                <a:t>系统</a:t>
              </a:r>
              <a:endParaRPr lang="zh-CN" altLang="en-US">
                <a:latin typeface="汉仪文黑-55简" panose="00020600040101010101" charset="-122"/>
                <a:ea typeface="汉仪文黑-55简" panose="00020600040101010101" charset="-122"/>
                <a:cs typeface="汉仪文黑-55简" panose="00020600040101010101" charset="-122"/>
              </a:endParaRPr>
            </a:p>
            <a:p>
              <a:pPr>
                <a:lnSpc>
                  <a:spcPct val="120000"/>
                </a:lnSpc>
              </a:pPr>
              <a:r>
                <a:rPr lang="zh-CN" altLang="en-US">
                  <a:latin typeface="汉仪文黑-55简" panose="00020600040101010101" charset="-122"/>
                  <a:ea typeface="汉仪文黑-55简" panose="00020600040101010101" charset="-122"/>
                  <a:cs typeface="汉仪文黑-55简" panose="00020600040101010101" charset="-122"/>
                </a:rPr>
                <a:t>：</a:t>
              </a:r>
              <a:r>
                <a:rPr lang="en-US" altLang="zh-CN">
                  <a:latin typeface="汉仪文黑-55简" panose="00020600040101010101" charset="-122"/>
                  <a:ea typeface="汉仪文黑-55简" panose="00020600040101010101" charset="-122"/>
                  <a:cs typeface="汉仪文黑-55简" panose="00020600040101010101" charset="-122"/>
                </a:rPr>
                <a:t>21069100225</a:t>
              </a:r>
              <a:endParaRPr lang="en-US" altLang="zh-CN">
                <a:latin typeface="汉仪文黑-55简" panose="00020600040101010101" charset="-122"/>
                <a:ea typeface="汉仪文黑-55简" panose="00020600040101010101" charset="-122"/>
                <a:cs typeface="汉仪文黑-55简" panose="0002060004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14:ripple dir="lu"/>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1757491" y="2311823"/>
            <a:ext cx="2876631" cy="514350"/>
          </a:xfrm>
          <a:prstGeom prst="rect">
            <a:avLst/>
          </a:prstGeom>
          <a:noFill/>
        </p:spPr>
        <p:txBody>
          <a:bodyPr wrap="square" rtlCol="0">
            <a:spAutoFit/>
          </a:bodyPr>
          <a:lstStyle/>
          <a:p>
            <a:r>
              <a:rPr lang="zh-CN" altLang="en-US" sz="1800" dirty="0" smtClean="0">
                <a:solidFill>
                  <a:srgbClr val="33495E"/>
                </a:solidFill>
                <a:latin typeface="微软雅黑" pitchFamily="34" charset="-122"/>
                <a:ea typeface="微软雅黑" pitchFamily="34" charset="-122"/>
              </a:rPr>
              <a:t>选题背景</a:t>
            </a:r>
            <a:r>
              <a:rPr lang="zh-CN" altLang="en-US" sz="1800" dirty="0">
                <a:solidFill>
                  <a:srgbClr val="33495E"/>
                </a:solidFill>
                <a:latin typeface="微软雅黑" pitchFamily="34" charset="-122"/>
                <a:ea typeface="微软雅黑" pitchFamily="34" charset="-122"/>
              </a:rPr>
              <a:t>与研究内容</a:t>
            </a:r>
            <a:endParaRPr lang="en-US" altLang="zh-CN" sz="1800" dirty="0" smtClean="0">
              <a:solidFill>
                <a:srgbClr val="33495E"/>
              </a:solidFill>
              <a:latin typeface="微软雅黑" pitchFamily="34" charset="-122"/>
              <a:ea typeface="微软雅黑" pitchFamily="34" charset="-122"/>
            </a:endParaRPr>
          </a:p>
          <a:p>
            <a:r>
              <a:rPr lang="en-US" altLang="zh-CN" sz="950" dirty="0">
                <a:solidFill>
                  <a:srgbClr val="33495E"/>
                </a:solidFill>
                <a:latin typeface="微软雅黑" pitchFamily="34" charset="-122"/>
                <a:ea typeface="微软雅黑" pitchFamily="34" charset="-122"/>
              </a:rPr>
              <a:t>Background and research contents </a:t>
            </a:r>
            <a:endParaRPr lang="en-US" altLang="zh-CN" sz="950" dirty="0">
              <a:solidFill>
                <a:srgbClr val="33495E"/>
              </a:solidFill>
              <a:latin typeface="微软雅黑" pitchFamily="34" charset="-122"/>
              <a:ea typeface="微软雅黑" pitchFamily="34" charset="-122"/>
            </a:endParaRPr>
          </a:p>
        </p:txBody>
      </p:sp>
      <p:sp>
        <p:nvSpPr>
          <p:cNvPr id="25" name="圆角矩形 24"/>
          <p:cNvSpPr/>
          <p:nvPr/>
        </p:nvSpPr>
        <p:spPr>
          <a:xfrm>
            <a:off x="1327390" y="2360348"/>
            <a:ext cx="407526" cy="407525"/>
          </a:xfrm>
          <a:prstGeom prst="roundRect">
            <a:avLst/>
          </a:prstGeom>
          <a:solidFill>
            <a:srgbClr val="33495E"/>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微软雅黑" pitchFamily="34" charset="-122"/>
              <a:ea typeface="微软雅黑" pitchFamily="34" charset="-122"/>
            </a:endParaRPr>
          </a:p>
        </p:txBody>
      </p:sp>
      <p:sp>
        <p:nvSpPr>
          <p:cNvPr id="26" name="文本框 17"/>
          <p:cNvSpPr txBox="1"/>
          <p:nvPr/>
        </p:nvSpPr>
        <p:spPr>
          <a:xfrm>
            <a:off x="1277884" y="2364055"/>
            <a:ext cx="549978" cy="400110"/>
          </a:xfrm>
          <a:prstGeom prst="rect">
            <a:avLst/>
          </a:prstGeom>
          <a:noFill/>
        </p:spPr>
        <p:txBody>
          <a:bodyPr wrap="square" rtlCol="0">
            <a:spAutoFit/>
          </a:bodyPr>
          <a:lstStyle/>
          <a:p>
            <a:pPr algn="ctr">
              <a:defRPr/>
            </a:pPr>
            <a:r>
              <a:rPr lang="en-US" altLang="zh-CN" sz="2000" dirty="0">
                <a:solidFill>
                  <a:schemeClr val="bg1"/>
                </a:solidFill>
                <a:latin typeface="微软雅黑" pitchFamily="34" charset="-122"/>
                <a:ea typeface="微软雅黑" pitchFamily="34" charset="-122"/>
                <a:sym typeface="+mn-ea"/>
              </a:rPr>
              <a:t>01</a:t>
            </a:r>
            <a:endParaRPr lang="en-US" altLang="zh-CN" sz="2000" dirty="0">
              <a:solidFill>
                <a:schemeClr val="bg1"/>
              </a:solidFill>
              <a:latin typeface="微软雅黑" pitchFamily="34" charset="-122"/>
              <a:ea typeface="微软雅黑" pitchFamily="34" charset="-122"/>
              <a:sym typeface="+mn-ea"/>
            </a:endParaRPr>
          </a:p>
        </p:txBody>
      </p:sp>
      <p:sp>
        <p:nvSpPr>
          <p:cNvPr id="37" name="圆角矩形 36"/>
          <p:cNvSpPr/>
          <p:nvPr/>
        </p:nvSpPr>
        <p:spPr>
          <a:xfrm>
            <a:off x="1327390" y="3317626"/>
            <a:ext cx="407526" cy="407525"/>
          </a:xfrm>
          <a:prstGeom prst="roundRect">
            <a:avLst/>
          </a:prstGeom>
          <a:solidFill>
            <a:srgbClr val="33495E"/>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a:solidFill>
                <a:schemeClr val="bg1"/>
              </a:solidFill>
              <a:latin typeface="微软雅黑" pitchFamily="34" charset="-122"/>
              <a:ea typeface="微软雅黑" pitchFamily="34" charset="-122"/>
            </a:endParaRPr>
          </a:p>
        </p:txBody>
      </p:sp>
      <p:sp>
        <p:nvSpPr>
          <p:cNvPr id="38" name="文本框 17"/>
          <p:cNvSpPr txBox="1"/>
          <p:nvPr/>
        </p:nvSpPr>
        <p:spPr>
          <a:xfrm>
            <a:off x="1292460" y="3321333"/>
            <a:ext cx="549978" cy="400110"/>
          </a:xfrm>
          <a:prstGeom prst="rect">
            <a:avLst/>
          </a:prstGeom>
          <a:noFill/>
        </p:spPr>
        <p:txBody>
          <a:bodyPr wrap="square" rtlCol="0">
            <a:spAutoFit/>
          </a:bodyPr>
          <a:lstStyle/>
          <a:p>
            <a:pPr>
              <a:defRPr/>
            </a:pPr>
            <a:r>
              <a:rPr lang="en-US" altLang="zh-CN" sz="2000" dirty="0" smtClean="0">
                <a:solidFill>
                  <a:schemeClr val="bg1"/>
                </a:solidFill>
                <a:latin typeface="微软雅黑" pitchFamily="34" charset="-122"/>
                <a:ea typeface="微软雅黑" pitchFamily="34" charset="-122"/>
                <a:sym typeface="+mn-ea"/>
              </a:rPr>
              <a:t>03</a:t>
            </a:r>
            <a:endParaRPr lang="en-US" altLang="zh-CN" sz="2000" dirty="0">
              <a:solidFill>
                <a:schemeClr val="bg1"/>
              </a:solidFill>
              <a:latin typeface="微软雅黑" pitchFamily="34" charset="-122"/>
              <a:ea typeface="微软雅黑" pitchFamily="34" charset="-122"/>
              <a:sym typeface="+mn-ea"/>
            </a:endParaRPr>
          </a:p>
        </p:txBody>
      </p:sp>
      <p:sp>
        <p:nvSpPr>
          <p:cNvPr id="41" name="文本框 10"/>
          <p:cNvSpPr txBox="1"/>
          <p:nvPr/>
        </p:nvSpPr>
        <p:spPr>
          <a:xfrm>
            <a:off x="1772067" y="3254818"/>
            <a:ext cx="2862055" cy="521970"/>
          </a:xfrm>
          <a:prstGeom prst="rect">
            <a:avLst/>
          </a:prstGeom>
          <a:noFill/>
        </p:spPr>
        <p:txBody>
          <a:bodyPr wrap="square" rtlCol="0">
            <a:spAutoFit/>
          </a:bodyPr>
          <a:lstStyle/>
          <a:p>
            <a:r>
              <a:rPr lang="zh-CN" altLang="en-US" sz="1800" dirty="0" smtClean="0">
                <a:solidFill>
                  <a:srgbClr val="33495E"/>
                </a:solidFill>
                <a:latin typeface="微软雅黑" pitchFamily="34" charset="-122"/>
                <a:ea typeface="微软雅黑" pitchFamily="34" charset="-122"/>
                <a:sym typeface="+mn-ea"/>
              </a:rPr>
              <a:t>数据分析</a:t>
            </a:r>
            <a:endParaRPr lang="en-US" altLang="zh-CN" sz="1800" dirty="0" smtClean="0">
              <a:solidFill>
                <a:srgbClr val="33495E"/>
              </a:solidFill>
              <a:latin typeface="微软雅黑" pitchFamily="34" charset="-122"/>
              <a:ea typeface="微软雅黑" pitchFamily="34" charset="-122"/>
              <a:sym typeface="+mn-ea"/>
            </a:endParaRPr>
          </a:p>
          <a:p>
            <a:r>
              <a:rPr lang="en-US" altLang="zh-CN" sz="1000" dirty="0">
                <a:solidFill>
                  <a:srgbClr val="33495E"/>
                </a:solidFill>
                <a:latin typeface="微软雅黑" pitchFamily="34" charset="-122"/>
                <a:ea typeface="微软雅黑" pitchFamily="34" charset="-122"/>
                <a:sym typeface="+mn-ea"/>
              </a:rPr>
              <a:t>Data analysis</a:t>
            </a:r>
            <a:endParaRPr lang="en-US" altLang="zh-CN" sz="1000" dirty="0">
              <a:solidFill>
                <a:srgbClr val="33495E"/>
              </a:solidFill>
              <a:latin typeface="微软雅黑" pitchFamily="34" charset="-122"/>
              <a:ea typeface="微软雅黑" pitchFamily="34" charset="-122"/>
              <a:sym typeface="+mn-ea"/>
            </a:endParaRPr>
          </a:p>
        </p:txBody>
      </p:sp>
      <p:sp>
        <p:nvSpPr>
          <p:cNvPr id="36" name="文本框 10"/>
          <p:cNvSpPr txBox="1"/>
          <p:nvPr/>
        </p:nvSpPr>
        <p:spPr>
          <a:xfrm>
            <a:off x="5834289" y="2311823"/>
            <a:ext cx="2639776" cy="521970"/>
          </a:xfrm>
          <a:prstGeom prst="rect">
            <a:avLst/>
          </a:prstGeom>
          <a:noFill/>
        </p:spPr>
        <p:txBody>
          <a:bodyPr wrap="square" rtlCol="0">
            <a:spAutoFit/>
          </a:bodyPr>
          <a:lstStyle/>
          <a:p>
            <a:r>
              <a:rPr lang="zh-CN" altLang="en-US" sz="1800" dirty="0" smtClean="0">
                <a:solidFill>
                  <a:srgbClr val="33495E"/>
                </a:solidFill>
                <a:latin typeface="微软雅黑" pitchFamily="34" charset="-122"/>
                <a:ea typeface="微软雅黑" pitchFamily="34" charset="-122"/>
                <a:sym typeface="+mn-ea"/>
              </a:rPr>
              <a:t>理论基础</a:t>
            </a:r>
            <a:r>
              <a:rPr lang="zh-CN" altLang="en-US" sz="1800" dirty="0" smtClean="0">
                <a:solidFill>
                  <a:srgbClr val="33495E"/>
                </a:solidFill>
                <a:latin typeface="微软雅黑" pitchFamily="34" charset="-122"/>
                <a:ea typeface="微软雅黑" pitchFamily="34" charset="-122"/>
                <a:sym typeface="+mn-ea"/>
              </a:rPr>
              <a:t>与实验设计</a:t>
            </a:r>
            <a:endParaRPr lang="zh-CN" altLang="en-US" sz="1800" dirty="0" smtClean="0">
              <a:solidFill>
                <a:srgbClr val="33495E"/>
              </a:solidFill>
              <a:latin typeface="微软雅黑" pitchFamily="34" charset="-122"/>
              <a:ea typeface="微软雅黑" pitchFamily="34" charset="-122"/>
              <a:sym typeface="+mn-ea"/>
            </a:endParaRPr>
          </a:p>
          <a:p>
            <a:r>
              <a:rPr lang="en-US" altLang="zh-CN" sz="1000" dirty="0">
                <a:solidFill>
                  <a:srgbClr val="33495E"/>
                </a:solidFill>
                <a:latin typeface="微软雅黑" pitchFamily="34" charset="-122"/>
                <a:ea typeface="微软雅黑" pitchFamily="34" charset="-122"/>
                <a:sym typeface="+mn-ea"/>
              </a:rPr>
              <a:t>Theoretical Basis and Experimental Design</a:t>
            </a:r>
            <a:endParaRPr lang="en-US" altLang="zh-CN" sz="1000" dirty="0">
              <a:solidFill>
                <a:srgbClr val="33495E"/>
              </a:solidFill>
              <a:latin typeface="微软雅黑" pitchFamily="34" charset="-122"/>
              <a:ea typeface="微软雅黑" pitchFamily="34" charset="-122"/>
              <a:sym typeface="+mn-ea"/>
            </a:endParaRPr>
          </a:p>
        </p:txBody>
      </p:sp>
      <p:sp>
        <p:nvSpPr>
          <p:cNvPr id="42" name="圆角矩形 41"/>
          <p:cNvSpPr/>
          <p:nvPr/>
        </p:nvSpPr>
        <p:spPr>
          <a:xfrm>
            <a:off x="5399286" y="2360348"/>
            <a:ext cx="407526" cy="407525"/>
          </a:xfrm>
          <a:prstGeom prst="roundRect">
            <a:avLst/>
          </a:prstGeom>
          <a:solidFill>
            <a:srgbClr val="33495E"/>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000">
              <a:solidFill>
                <a:schemeClr val="bg1"/>
              </a:solidFill>
              <a:latin typeface="微软雅黑" pitchFamily="34" charset="-122"/>
              <a:ea typeface="微软雅黑" pitchFamily="34" charset="-122"/>
            </a:endParaRPr>
          </a:p>
        </p:txBody>
      </p:sp>
      <p:sp>
        <p:nvSpPr>
          <p:cNvPr id="43" name="文本框 17"/>
          <p:cNvSpPr txBox="1"/>
          <p:nvPr/>
        </p:nvSpPr>
        <p:spPr>
          <a:xfrm>
            <a:off x="5349780" y="2364055"/>
            <a:ext cx="549978" cy="400110"/>
          </a:xfrm>
          <a:prstGeom prst="rect">
            <a:avLst/>
          </a:prstGeom>
          <a:noFill/>
        </p:spPr>
        <p:txBody>
          <a:bodyPr wrap="square" rtlCol="0">
            <a:spAutoFit/>
          </a:bodyPr>
          <a:lstStyle/>
          <a:p>
            <a:pPr>
              <a:defRPr/>
            </a:pPr>
            <a:r>
              <a:rPr lang="en-US" altLang="zh-CN" sz="2000" dirty="0" smtClean="0">
                <a:solidFill>
                  <a:schemeClr val="bg1"/>
                </a:solidFill>
                <a:latin typeface="微软雅黑" pitchFamily="34" charset="-122"/>
                <a:ea typeface="微软雅黑" pitchFamily="34" charset="-122"/>
                <a:sym typeface="+mn-ea"/>
              </a:rPr>
              <a:t>02</a:t>
            </a:r>
            <a:endParaRPr lang="en-US" altLang="zh-CN" sz="2000" dirty="0">
              <a:solidFill>
                <a:schemeClr val="bg1"/>
              </a:solidFill>
              <a:latin typeface="微软雅黑" pitchFamily="34" charset="-122"/>
              <a:ea typeface="微软雅黑" pitchFamily="34" charset="-122"/>
              <a:sym typeface="+mn-ea"/>
            </a:endParaRPr>
          </a:p>
        </p:txBody>
      </p:sp>
      <p:sp>
        <p:nvSpPr>
          <p:cNvPr id="50" name="文本框 10"/>
          <p:cNvSpPr txBox="1"/>
          <p:nvPr/>
        </p:nvSpPr>
        <p:spPr>
          <a:xfrm>
            <a:off x="5834288" y="3254819"/>
            <a:ext cx="2633877" cy="514350"/>
          </a:xfrm>
          <a:prstGeom prst="rect">
            <a:avLst/>
          </a:prstGeom>
          <a:noFill/>
        </p:spPr>
        <p:txBody>
          <a:bodyPr wrap="square" rtlCol="0">
            <a:spAutoFit/>
          </a:bodyPr>
          <a:lstStyle/>
          <a:p>
            <a:r>
              <a:rPr lang="zh-CN" altLang="en-US" sz="1800" dirty="0">
                <a:solidFill>
                  <a:srgbClr val="33495E"/>
                </a:solidFill>
                <a:latin typeface="微软雅黑" pitchFamily="34" charset="-122"/>
                <a:ea typeface="微软雅黑" pitchFamily="34" charset="-122"/>
                <a:sym typeface="+mn-ea"/>
              </a:rPr>
              <a:t>后期研究工作</a:t>
            </a:r>
            <a:endParaRPr lang="en-US" altLang="zh-CN" sz="1800" dirty="0" smtClean="0">
              <a:solidFill>
                <a:srgbClr val="33495E"/>
              </a:solidFill>
              <a:latin typeface="微软雅黑" pitchFamily="34" charset="-122"/>
              <a:ea typeface="微软雅黑" pitchFamily="34" charset="-122"/>
              <a:sym typeface="+mn-ea"/>
            </a:endParaRPr>
          </a:p>
          <a:p>
            <a:r>
              <a:rPr lang="en-US" altLang="zh-CN" sz="950" dirty="0">
                <a:solidFill>
                  <a:srgbClr val="33495E"/>
                </a:solidFill>
                <a:latin typeface="微软雅黑" pitchFamily="34" charset="-122"/>
                <a:ea typeface="微软雅黑" pitchFamily="34" charset="-122"/>
                <a:sym typeface="+mn-ea"/>
              </a:rPr>
              <a:t>Post research work</a:t>
            </a:r>
            <a:endParaRPr lang="en-US" altLang="zh-CN" sz="950" dirty="0">
              <a:solidFill>
                <a:srgbClr val="33495E"/>
              </a:solidFill>
              <a:latin typeface="微软雅黑" pitchFamily="34" charset="-122"/>
              <a:ea typeface="微软雅黑" pitchFamily="34" charset="-122"/>
              <a:sym typeface="+mn-ea"/>
            </a:endParaRPr>
          </a:p>
        </p:txBody>
      </p:sp>
      <p:sp>
        <p:nvSpPr>
          <p:cNvPr id="51" name="圆角矩形 50"/>
          <p:cNvSpPr/>
          <p:nvPr/>
        </p:nvSpPr>
        <p:spPr>
          <a:xfrm>
            <a:off x="5399286" y="3317627"/>
            <a:ext cx="407526" cy="407525"/>
          </a:xfrm>
          <a:prstGeom prst="roundRect">
            <a:avLst/>
          </a:prstGeom>
          <a:solidFill>
            <a:srgbClr val="33495E"/>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bg1"/>
              </a:solidFill>
              <a:latin typeface="微软雅黑" pitchFamily="34" charset="-122"/>
              <a:ea typeface="微软雅黑" pitchFamily="34" charset="-122"/>
            </a:endParaRPr>
          </a:p>
        </p:txBody>
      </p:sp>
      <p:sp>
        <p:nvSpPr>
          <p:cNvPr id="52" name="文本框 17"/>
          <p:cNvSpPr txBox="1"/>
          <p:nvPr/>
        </p:nvSpPr>
        <p:spPr>
          <a:xfrm>
            <a:off x="5327746" y="3321334"/>
            <a:ext cx="549978" cy="400110"/>
          </a:xfrm>
          <a:prstGeom prst="rect">
            <a:avLst/>
          </a:prstGeom>
          <a:noFill/>
        </p:spPr>
        <p:txBody>
          <a:bodyPr wrap="square" rtlCol="0">
            <a:spAutoFit/>
          </a:bodyPr>
          <a:lstStyle/>
          <a:p>
            <a:pPr algn="ctr">
              <a:defRPr/>
            </a:pPr>
            <a:r>
              <a:rPr lang="en-US" altLang="zh-CN" sz="2000" dirty="0" smtClean="0">
                <a:solidFill>
                  <a:schemeClr val="bg1"/>
                </a:solidFill>
                <a:latin typeface="微软雅黑" pitchFamily="34" charset="-122"/>
                <a:ea typeface="微软雅黑" pitchFamily="34" charset="-122"/>
                <a:sym typeface="+mn-ea"/>
              </a:rPr>
              <a:t>04</a:t>
            </a:r>
            <a:endParaRPr lang="en-US" altLang="zh-CN" sz="2000" dirty="0">
              <a:solidFill>
                <a:schemeClr val="bg1"/>
              </a:solidFill>
              <a:latin typeface="微软雅黑" pitchFamily="34" charset="-122"/>
              <a:ea typeface="微软雅黑" pitchFamily="34" charset="-122"/>
              <a:sym typeface="+mn-ea"/>
            </a:endParaRPr>
          </a:p>
        </p:txBody>
      </p:sp>
      <p:sp>
        <p:nvSpPr>
          <p:cNvPr id="33" name="文本框 32"/>
          <p:cNvSpPr txBox="1"/>
          <p:nvPr/>
        </p:nvSpPr>
        <p:spPr>
          <a:xfrm>
            <a:off x="3648196" y="703339"/>
            <a:ext cx="1847608" cy="769441"/>
          </a:xfrm>
          <a:prstGeom prst="rect">
            <a:avLst/>
          </a:prstGeom>
          <a:noFill/>
        </p:spPr>
        <p:txBody>
          <a:bodyPr wrap="square" rtlCol="0">
            <a:spAutoFit/>
          </a:bodyPr>
          <a:lstStyle/>
          <a:p>
            <a:pPr algn="ctr"/>
            <a:r>
              <a:rPr lang="zh-CN" altLang="en-US" sz="4400" spc="-225" dirty="0">
                <a:solidFill>
                  <a:srgbClr val="33495E"/>
                </a:solidFill>
                <a:latin typeface="微软雅黑" pitchFamily="34" charset="-122"/>
                <a:ea typeface="微软雅黑" pitchFamily="34" charset="-122"/>
                <a:sym typeface="+mn-ea"/>
              </a:rPr>
              <a:t>目 录</a:t>
            </a:r>
            <a:endParaRPr lang="zh-CN" altLang="en-US" sz="4400" spc="-225" dirty="0">
              <a:solidFill>
                <a:srgbClr val="33495E"/>
              </a:solidFill>
              <a:latin typeface="微软雅黑" pitchFamily="34" charset="-122"/>
              <a:ea typeface="微软雅黑" pitchFamily="34" charset="-122"/>
              <a:sym typeface="+mn-ea"/>
            </a:endParaRPr>
          </a:p>
        </p:txBody>
      </p:sp>
      <p:sp>
        <p:nvSpPr>
          <p:cNvPr id="3" name="文本框 2"/>
          <p:cNvSpPr txBox="1"/>
          <p:nvPr/>
        </p:nvSpPr>
        <p:spPr>
          <a:xfrm>
            <a:off x="3733745" y="1376257"/>
            <a:ext cx="1676510" cy="369332"/>
          </a:xfrm>
          <a:prstGeom prst="rect">
            <a:avLst/>
          </a:prstGeom>
          <a:noFill/>
        </p:spPr>
        <p:txBody>
          <a:bodyPr vert="horz" wrap="square" rtlCol="0">
            <a:spAutoFit/>
          </a:bodyPr>
          <a:lstStyle/>
          <a:p>
            <a:pPr algn="ctr"/>
            <a:r>
              <a:rPr lang="en-US" altLang="zh-CN" sz="1800" dirty="0">
                <a:solidFill>
                  <a:srgbClr val="33495E"/>
                </a:solidFill>
                <a:latin typeface="微软雅黑" pitchFamily="34" charset="-122"/>
                <a:ea typeface="微软雅黑" pitchFamily="34" charset="-122"/>
              </a:rPr>
              <a:t>CONTENTS</a:t>
            </a:r>
            <a:endParaRPr lang="en-US" altLang="zh-CN" sz="1800" dirty="0">
              <a:solidFill>
                <a:srgbClr val="33495E"/>
              </a:solidFill>
              <a:latin typeface="微软雅黑" pitchFamily="34" charset="-122"/>
              <a:ea typeface="微软雅黑" pitchFamily="34" charset="-122"/>
            </a:endParaRPr>
          </a:p>
        </p:txBody>
      </p:sp>
      <p:sp>
        <p:nvSpPr>
          <p:cNvPr id="2" name="矩形 1"/>
          <p:cNvSpPr/>
          <p:nvPr/>
        </p:nvSpPr>
        <p:spPr>
          <a:xfrm>
            <a:off x="4261623" y="1785578"/>
            <a:ext cx="620754" cy="28800"/>
          </a:xfrm>
          <a:prstGeom prst="rect">
            <a:avLst/>
          </a:prstGeom>
          <a:solidFill>
            <a:srgbClr val="334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495E"/>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1"/>
          <p:cNvSpPr txBox="1"/>
          <p:nvPr/>
        </p:nvSpPr>
        <p:spPr>
          <a:xfrm>
            <a:off x="798765" y="1267549"/>
            <a:ext cx="3251597" cy="807913"/>
          </a:xfrm>
          <a:prstGeom prst="rect">
            <a:avLst/>
          </a:prstGeom>
          <a:noFill/>
        </p:spPr>
        <p:txBody>
          <a:bodyPr wrap="square" lIns="68580" tIns="34290" rIns="68580" bIns="34290" rtlCol="0">
            <a:spAutoFit/>
          </a:bodyPr>
          <a:lstStyle/>
          <a:p>
            <a:r>
              <a:rPr lang="en-US" altLang="zh-CN" sz="4800" dirty="0" smtClean="0">
                <a:solidFill>
                  <a:srgbClr val="33495E"/>
                </a:solidFill>
                <a:latin typeface="微软雅黑" pitchFamily="34" charset="-122"/>
                <a:ea typeface="微软雅黑" pitchFamily="34" charset="-122"/>
                <a:sym typeface="+mn-ea"/>
              </a:rPr>
              <a:t>PART 01</a:t>
            </a:r>
            <a:endParaRPr lang="zh-CN" altLang="en-US" sz="4800" dirty="0">
              <a:solidFill>
                <a:srgbClr val="33495E"/>
              </a:solidFill>
              <a:latin typeface="微软雅黑" pitchFamily="34" charset="-122"/>
              <a:ea typeface="微软雅黑" pitchFamily="34" charset="-122"/>
              <a:sym typeface="+mn-ea"/>
            </a:endParaRPr>
          </a:p>
        </p:txBody>
      </p:sp>
      <p:sp>
        <p:nvSpPr>
          <p:cNvPr id="8" name="文本框 10"/>
          <p:cNvSpPr txBox="1"/>
          <p:nvPr/>
        </p:nvSpPr>
        <p:spPr>
          <a:xfrm>
            <a:off x="798765" y="1968925"/>
            <a:ext cx="5760640" cy="1137285"/>
          </a:xfrm>
          <a:prstGeom prst="rect">
            <a:avLst/>
          </a:prstGeom>
          <a:noFill/>
        </p:spPr>
        <p:txBody>
          <a:bodyPr wrap="square" rtlCol="0">
            <a:spAutoFit/>
          </a:bodyPr>
          <a:lstStyle/>
          <a:p>
            <a:r>
              <a:rPr lang="zh-CN" altLang="en-US" sz="3600" dirty="0" smtClean="0">
                <a:solidFill>
                  <a:srgbClr val="33495E"/>
                </a:solidFill>
                <a:latin typeface="微软雅黑" pitchFamily="34" charset="-122"/>
                <a:ea typeface="微软雅黑" pitchFamily="34" charset="-122"/>
              </a:rPr>
              <a:t>选题背景</a:t>
            </a:r>
            <a:r>
              <a:rPr lang="zh-CN" altLang="en-US" sz="3600" dirty="0">
                <a:solidFill>
                  <a:srgbClr val="33495E"/>
                </a:solidFill>
                <a:latin typeface="微软雅黑" pitchFamily="34" charset="-122"/>
                <a:ea typeface="微软雅黑" pitchFamily="34" charset="-122"/>
              </a:rPr>
              <a:t>与</a:t>
            </a:r>
            <a:r>
              <a:rPr lang="zh-CN" altLang="en-US" sz="3600" dirty="0">
                <a:solidFill>
                  <a:srgbClr val="33495E"/>
                </a:solidFill>
                <a:latin typeface="微软雅黑" pitchFamily="34" charset="-122"/>
                <a:ea typeface="微软雅黑" pitchFamily="34" charset="-122"/>
                <a:sym typeface="+mn-ea"/>
              </a:rPr>
              <a:t>研究内容</a:t>
            </a:r>
            <a:endParaRPr lang="en-US" altLang="zh-CN" sz="3600" dirty="0" smtClean="0">
              <a:solidFill>
                <a:srgbClr val="33495E"/>
              </a:solidFill>
              <a:latin typeface="微软雅黑" pitchFamily="34" charset="-122"/>
              <a:ea typeface="微软雅黑" pitchFamily="34" charset="-122"/>
            </a:endParaRPr>
          </a:p>
          <a:p>
            <a:r>
              <a:rPr lang="en-US" altLang="zh-CN" sz="1600" dirty="0">
                <a:solidFill>
                  <a:srgbClr val="33495E"/>
                </a:solidFill>
                <a:latin typeface="微软雅黑" pitchFamily="34" charset="-122"/>
                <a:ea typeface="微软雅黑" pitchFamily="34" charset="-122"/>
              </a:rPr>
              <a:t>Background and </a:t>
            </a:r>
            <a:r>
              <a:rPr lang="en-US" altLang="zh-CN" sz="1600" dirty="0">
                <a:solidFill>
                  <a:srgbClr val="33495E"/>
                </a:solidFill>
                <a:latin typeface="微软雅黑" pitchFamily="34" charset="-122"/>
                <a:ea typeface="微软雅黑" pitchFamily="34" charset="-122"/>
                <a:sym typeface="+mn-ea"/>
              </a:rPr>
              <a:t>research contents </a:t>
            </a:r>
            <a:endParaRPr lang="en-US" altLang="zh-CN" sz="1600" dirty="0">
              <a:solidFill>
                <a:srgbClr val="33495E"/>
              </a:solidFill>
              <a:latin typeface="微软雅黑" pitchFamily="34" charset="-122"/>
              <a:ea typeface="微软雅黑" pitchFamily="34" charset="-122"/>
            </a:endParaRPr>
          </a:p>
          <a:p>
            <a:endParaRPr lang="zh-CN" altLang="en-US" sz="1600" dirty="0">
              <a:solidFill>
                <a:srgbClr val="33495E"/>
              </a:solidFill>
              <a:latin typeface="微软雅黑" pitchFamily="34" charset="-122"/>
              <a:ea typeface="微软雅黑" pitchFamily="34" charset="-122"/>
            </a:endParaRPr>
          </a:p>
        </p:txBody>
      </p:sp>
      <p:sp>
        <p:nvSpPr>
          <p:cNvPr id="5" name="矩形 4"/>
          <p:cNvSpPr/>
          <p:nvPr/>
        </p:nvSpPr>
        <p:spPr>
          <a:xfrm>
            <a:off x="901635" y="2898478"/>
            <a:ext cx="620754" cy="28800"/>
          </a:xfrm>
          <a:prstGeom prst="rect">
            <a:avLst/>
          </a:prstGeom>
          <a:solidFill>
            <a:srgbClr val="334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rgbClr val="232323"/>
              </a:solidFill>
            </a:endParaRPr>
          </a:p>
        </p:txBody>
      </p:sp>
      <p:sp>
        <p:nvSpPr>
          <p:cNvPr id="9" name="文本框 11"/>
          <p:cNvSpPr txBox="1"/>
          <p:nvPr/>
        </p:nvSpPr>
        <p:spPr>
          <a:xfrm>
            <a:off x="5304663" y="1027075"/>
            <a:ext cx="3251597" cy="3131627"/>
          </a:xfrm>
          <a:prstGeom prst="rect">
            <a:avLst/>
          </a:prstGeom>
          <a:noFill/>
        </p:spPr>
        <p:txBody>
          <a:bodyPr wrap="square" lIns="68580" tIns="34290" rIns="68580" bIns="34290" rtlCol="0">
            <a:spAutoFit/>
          </a:bodyPr>
          <a:lstStyle/>
          <a:p>
            <a:r>
              <a:rPr lang="en-US" altLang="zh-CN" sz="19900" i="1" dirty="0" smtClean="0">
                <a:solidFill>
                  <a:srgbClr val="DCE3E8"/>
                </a:solidFill>
                <a:latin typeface="微软雅黑" pitchFamily="34" charset="-122"/>
                <a:ea typeface="微软雅黑" pitchFamily="34" charset="-122"/>
                <a:sym typeface="+mn-ea"/>
              </a:rPr>
              <a:t>01</a:t>
            </a:r>
            <a:endParaRPr lang="zh-CN" altLang="en-US" sz="19900" i="1" dirty="0">
              <a:solidFill>
                <a:srgbClr val="DCE3E8"/>
              </a:solidFill>
              <a:latin typeface="微软雅黑" pitchFamily="34" charset="-122"/>
              <a:ea typeface="微软雅黑"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886488" y="3473297"/>
            <a:ext cx="880668" cy="769214"/>
          </a:xfrm>
          <a:prstGeom prst="rect">
            <a:avLst/>
          </a:prstGeom>
          <a:solidFill>
            <a:srgbClr val="DCE3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29"/>
          <p:cNvSpPr/>
          <p:nvPr>
            <p:custDataLst>
              <p:tags r:id="rId1"/>
            </p:custDataLst>
          </p:nvPr>
        </p:nvSpPr>
        <p:spPr>
          <a:xfrm>
            <a:off x="104813" y="491"/>
            <a:ext cx="1686974" cy="5025690"/>
          </a:xfrm>
          <a:custGeom>
            <a:avLst/>
            <a:gdLst/>
            <a:ahLst/>
            <a:cxnLst>
              <a:cxn ang="3">
                <a:pos x="hc" y="t"/>
              </a:cxn>
              <a:cxn ang="cd2">
                <a:pos x="l" y="vc"/>
              </a:cxn>
              <a:cxn ang="cd4">
                <a:pos x="hc" y="b"/>
              </a:cxn>
              <a:cxn ang="0">
                <a:pos x="r" y="vc"/>
              </a:cxn>
            </a:cxnLst>
            <a:rect l="l" t="t" r="r" b="b"/>
            <a:pathLst>
              <a:path w="3537" h="10537">
                <a:moveTo>
                  <a:pt x="0" y="0"/>
                </a:moveTo>
                <a:lnTo>
                  <a:pt x="44" y="22"/>
                </a:lnTo>
                <a:cubicBezTo>
                  <a:pt x="2114" y="1050"/>
                  <a:pt x="3537" y="3187"/>
                  <a:pt x="3537" y="5655"/>
                </a:cubicBezTo>
                <a:cubicBezTo>
                  <a:pt x="3537" y="7608"/>
                  <a:pt x="2646" y="9353"/>
                  <a:pt x="1249" y="10506"/>
                </a:cubicBezTo>
                <a:lnTo>
                  <a:pt x="1212" y="10537"/>
                </a:lnTo>
                <a:lnTo>
                  <a:pt x="0" y="10537"/>
                </a:lnTo>
                <a:lnTo>
                  <a:pt x="0" y="9335"/>
                </a:lnTo>
                <a:lnTo>
                  <a:pt x="43" y="9303"/>
                </a:lnTo>
                <a:cubicBezTo>
                  <a:pt x="1138" y="8463"/>
                  <a:pt x="1844" y="7142"/>
                  <a:pt x="1844" y="5655"/>
                </a:cubicBezTo>
                <a:cubicBezTo>
                  <a:pt x="1844" y="4168"/>
                  <a:pt x="1138" y="2847"/>
                  <a:pt x="43" y="2007"/>
                </a:cubicBezTo>
                <a:lnTo>
                  <a:pt x="0" y="1975"/>
                </a:lnTo>
                <a:lnTo>
                  <a:pt x="0" y="0"/>
                </a:lnTo>
                <a:close/>
              </a:path>
            </a:pathLst>
          </a:custGeom>
          <a:gradFill>
            <a:gsLst>
              <a:gs pos="100000">
                <a:schemeClr val="accent1">
                  <a:lumMod val="40000"/>
                  <a:lumOff val="60000"/>
                  <a:alpha val="0"/>
                </a:schemeClr>
              </a:gs>
              <a:gs pos="0">
                <a:schemeClr val="accent1">
                  <a:lumMod val="40000"/>
                  <a:lumOff val="60000"/>
                  <a:alpha val="0"/>
                </a:schemeClr>
              </a:gs>
              <a:gs pos="57000">
                <a:schemeClr val="accent1">
                  <a:lumMod val="40000"/>
                  <a:lumOff val="60000"/>
                  <a:alpha val="20000"/>
                </a:schemeClr>
              </a:gs>
              <a:gs pos="43000">
                <a:schemeClr val="accent1">
                  <a:lumMod val="40000"/>
                  <a:lumOff val="60000"/>
                  <a:alpha val="2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70291" tIns="35145" rIns="70291" bIns="3514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sz="1385">
              <a:solidFill>
                <a:schemeClr val="lt1"/>
              </a:solidFill>
              <a:latin typeface="+mn-ea"/>
              <a:sym typeface="+mn-ea"/>
            </a:endParaRPr>
          </a:p>
        </p:txBody>
      </p:sp>
      <p:sp>
        <p:nvSpPr>
          <p:cNvPr id="32" name="任意多边形: 形状 81"/>
          <p:cNvSpPr/>
          <p:nvPr>
            <p:custDataLst>
              <p:tags r:id="rId2"/>
            </p:custDataLst>
          </p:nvPr>
        </p:nvSpPr>
        <p:spPr>
          <a:xfrm>
            <a:off x="1319129" y="1398434"/>
            <a:ext cx="7361732" cy="463119"/>
          </a:xfrm>
          <a:custGeom>
            <a:avLst/>
            <a:gdLst>
              <a:gd name="connsiteX0" fmla="*/ 0 w 15435"/>
              <a:gd name="connsiteY0" fmla="*/ 0 h 971"/>
              <a:gd name="connsiteX1" fmla="*/ 1172 w 15435"/>
              <a:gd name="connsiteY1" fmla="*/ 2 h 971"/>
              <a:gd name="connsiteX2" fmla="*/ 1418 w 15435"/>
              <a:gd name="connsiteY2" fmla="*/ 168 h 971"/>
              <a:gd name="connsiteX3" fmla="*/ 1677 w 15435"/>
              <a:gd name="connsiteY3" fmla="*/ 805 h 971"/>
              <a:gd name="connsiteX4" fmla="*/ 1923 w 15435"/>
              <a:gd name="connsiteY4" fmla="*/ 971 h 971"/>
              <a:gd name="connsiteX5" fmla="*/ 15435 w 15435"/>
              <a:gd name="connsiteY5" fmla="*/ 971 h 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5" h="971">
                <a:moveTo>
                  <a:pt x="0" y="0"/>
                </a:moveTo>
                <a:lnTo>
                  <a:pt x="1172" y="2"/>
                </a:lnTo>
                <a:cubicBezTo>
                  <a:pt x="1280" y="2"/>
                  <a:pt x="1378" y="68"/>
                  <a:pt x="1418" y="168"/>
                </a:cubicBezTo>
                <a:lnTo>
                  <a:pt x="1677" y="805"/>
                </a:lnTo>
                <a:cubicBezTo>
                  <a:pt x="1717" y="905"/>
                  <a:pt x="1815" y="971"/>
                  <a:pt x="1923" y="971"/>
                </a:cubicBezTo>
                <a:lnTo>
                  <a:pt x="15435" y="971"/>
                </a:lnTo>
              </a:path>
            </a:pathLst>
          </a:custGeom>
          <a:noFill/>
          <a:ln w="9525" cap="flat">
            <a:gradFill>
              <a:gsLst>
                <a:gs pos="45000">
                  <a:schemeClr val="accent1">
                    <a:alpha val="30000"/>
                  </a:schemeClr>
                </a:gs>
                <a:gs pos="100000">
                  <a:schemeClr val="accent1">
                    <a:alpha val="0"/>
                  </a:schemeClr>
                </a:gs>
              </a:gsLst>
              <a:lin ang="0" scaled="0"/>
            </a:gradFill>
            <a:prstDash val="solid"/>
            <a:miter/>
          </a:ln>
        </p:spPr>
        <p:txBody>
          <a:bodyPr rot="0" spcFirstLastPara="0" vertOverflow="overflow" horzOverflow="overflow" vert="horz" wrap="square" lIns="70291" tIns="35145" rIns="70291" bIns="3514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85">
              <a:solidFill>
                <a:schemeClr val="tx1"/>
              </a:solidFill>
              <a:latin typeface="+mn-ea"/>
              <a:sym typeface="+mn-ea"/>
            </a:endParaRPr>
          </a:p>
        </p:txBody>
      </p:sp>
      <p:sp>
        <p:nvSpPr>
          <p:cNvPr id="33" name="任意多边形: 形状 83"/>
          <p:cNvSpPr/>
          <p:nvPr>
            <p:custDataLst>
              <p:tags r:id="rId3"/>
            </p:custDataLst>
          </p:nvPr>
        </p:nvSpPr>
        <p:spPr>
          <a:xfrm>
            <a:off x="1635348" y="2696216"/>
            <a:ext cx="7045991" cy="465981"/>
          </a:xfrm>
          <a:custGeom>
            <a:avLst/>
            <a:gdLst>
              <a:gd name="connsiteX0" fmla="*/ 0 w 14773"/>
              <a:gd name="connsiteY0" fmla="*/ 0 h 977"/>
              <a:gd name="connsiteX1" fmla="*/ 510 w 14773"/>
              <a:gd name="connsiteY1" fmla="*/ 8 h 977"/>
              <a:gd name="connsiteX2" fmla="*/ 756 w 14773"/>
              <a:gd name="connsiteY2" fmla="*/ 174 h 977"/>
              <a:gd name="connsiteX3" fmla="*/ 1014 w 14773"/>
              <a:gd name="connsiteY3" fmla="*/ 811 h 977"/>
              <a:gd name="connsiteX4" fmla="*/ 1260 w 14773"/>
              <a:gd name="connsiteY4" fmla="*/ 977 h 977"/>
              <a:gd name="connsiteX5" fmla="*/ 14773 w 14773"/>
              <a:gd name="connsiteY5" fmla="*/ 977 h 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773" h="977">
                <a:moveTo>
                  <a:pt x="0" y="0"/>
                </a:moveTo>
                <a:lnTo>
                  <a:pt x="510" y="8"/>
                </a:lnTo>
                <a:cubicBezTo>
                  <a:pt x="618" y="8"/>
                  <a:pt x="715" y="74"/>
                  <a:pt x="756" y="174"/>
                </a:cubicBezTo>
                <a:lnTo>
                  <a:pt x="1014" y="811"/>
                </a:lnTo>
                <a:cubicBezTo>
                  <a:pt x="1055" y="911"/>
                  <a:pt x="1152" y="977"/>
                  <a:pt x="1260" y="977"/>
                </a:cubicBezTo>
                <a:lnTo>
                  <a:pt x="14773" y="977"/>
                </a:lnTo>
              </a:path>
            </a:pathLst>
          </a:custGeom>
          <a:noFill/>
          <a:ln w="9525" cap="flat">
            <a:gradFill>
              <a:gsLst>
                <a:gs pos="45000">
                  <a:schemeClr val="accent2">
                    <a:alpha val="30000"/>
                  </a:schemeClr>
                </a:gs>
                <a:gs pos="100000">
                  <a:schemeClr val="accent2">
                    <a:alpha val="0"/>
                  </a:schemeClr>
                </a:gs>
              </a:gsLst>
              <a:lin ang="0" scaled="0"/>
            </a:gradFill>
            <a:prstDash val="solid"/>
            <a:miter/>
          </a:ln>
        </p:spPr>
        <p:txBody>
          <a:bodyPr rot="0" spcFirstLastPara="0" vertOverflow="overflow" horzOverflow="overflow" vert="horz" wrap="square" lIns="70291" tIns="35145" rIns="70291" bIns="3514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85">
              <a:solidFill>
                <a:schemeClr val="tx1"/>
              </a:solidFill>
              <a:latin typeface="+mn-ea"/>
              <a:sym typeface="+mn-ea"/>
            </a:endParaRPr>
          </a:p>
        </p:txBody>
      </p:sp>
      <p:sp>
        <p:nvSpPr>
          <p:cNvPr id="34" name="任意多边形: 形状 85"/>
          <p:cNvSpPr/>
          <p:nvPr>
            <p:custDataLst>
              <p:tags r:id="rId4"/>
            </p:custDataLst>
          </p:nvPr>
        </p:nvSpPr>
        <p:spPr>
          <a:xfrm>
            <a:off x="1306728" y="3996860"/>
            <a:ext cx="7374610" cy="466934"/>
          </a:xfrm>
          <a:custGeom>
            <a:avLst/>
            <a:gdLst>
              <a:gd name="connsiteX0" fmla="*/ 0 w 15462"/>
              <a:gd name="connsiteY0" fmla="*/ 0 h 979"/>
              <a:gd name="connsiteX1" fmla="*/ 1199 w 15462"/>
              <a:gd name="connsiteY1" fmla="*/ 10 h 979"/>
              <a:gd name="connsiteX2" fmla="*/ 1445 w 15462"/>
              <a:gd name="connsiteY2" fmla="*/ 176 h 979"/>
              <a:gd name="connsiteX3" fmla="*/ 1703 w 15462"/>
              <a:gd name="connsiteY3" fmla="*/ 813 h 979"/>
              <a:gd name="connsiteX4" fmla="*/ 1950 w 15462"/>
              <a:gd name="connsiteY4" fmla="*/ 979 h 979"/>
              <a:gd name="connsiteX5" fmla="*/ 15462 w 15462"/>
              <a:gd name="connsiteY5" fmla="*/ 979 h 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62" h="979">
                <a:moveTo>
                  <a:pt x="0" y="0"/>
                </a:moveTo>
                <a:lnTo>
                  <a:pt x="1199" y="10"/>
                </a:lnTo>
                <a:cubicBezTo>
                  <a:pt x="1307" y="10"/>
                  <a:pt x="1404" y="76"/>
                  <a:pt x="1445" y="176"/>
                </a:cubicBezTo>
                <a:lnTo>
                  <a:pt x="1703" y="813"/>
                </a:lnTo>
                <a:cubicBezTo>
                  <a:pt x="1744" y="913"/>
                  <a:pt x="1841" y="979"/>
                  <a:pt x="1950" y="979"/>
                </a:cubicBezTo>
                <a:lnTo>
                  <a:pt x="15462" y="979"/>
                </a:lnTo>
              </a:path>
            </a:pathLst>
          </a:custGeom>
          <a:noFill/>
          <a:ln w="9525" cap="flat">
            <a:gradFill>
              <a:gsLst>
                <a:gs pos="45000">
                  <a:schemeClr val="accent1">
                    <a:alpha val="30000"/>
                  </a:schemeClr>
                </a:gs>
                <a:gs pos="100000">
                  <a:schemeClr val="accent1">
                    <a:alpha val="0"/>
                  </a:schemeClr>
                </a:gs>
              </a:gsLst>
              <a:lin ang="0" scaled="0"/>
            </a:gradFill>
            <a:prstDash val="solid"/>
            <a:miter/>
          </a:ln>
        </p:spPr>
        <p:txBody>
          <a:bodyPr rot="0" spcFirstLastPara="0" vertOverflow="overflow" horzOverflow="overflow" vert="horz" wrap="square" lIns="70291" tIns="35145" rIns="70291" bIns="3514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85">
              <a:solidFill>
                <a:schemeClr val="tx1"/>
              </a:solidFill>
              <a:latin typeface="+mn-ea"/>
              <a:sym typeface="+mn-ea"/>
            </a:endParaRPr>
          </a:p>
        </p:txBody>
      </p:sp>
      <p:sp>
        <p:nvSpPr>
          <p:cNvPr id="35" name="任意多边形: 形状 40"/>
          <p:cNvSpPr/>
          <p:nvPr>
            <p:custDataLst>
              <p:tags r:id="rId5"/>
            </p:custDataLst>
          </p:nvPr>
        </p:nvSpPr>
        <p:spPr>
          <a:xfrm>
            <a:off x="1168890" y="2440094"/>
            <a:ext cx="516060" cy="516060"/>
          </a:xfrm>
          <a:custGeom>
            <a:avLst/>
            <a:gdLst>
              <a:gd name="connsiteX0" fmla="*/ 687324 w 687323"/>
              <a:gd name="connsiteY0" fmla="*/ 343662 h 687324"/>
              <a:gd name="connsiteX1" fmla="*/ 343662 w 687323"/>
              <a:gd name="connsiteY1" fmla="*/ 687324 h 687324"/>
              <a:gd name="connsiteX2" fmla="*/ 0 w 687323"/>
              <a:gd name="connsiteY2" fmla="*/ 343662 h 687324"/>
              <a:gd name="connsiteX3" fmla="*/ 343662 w 687323"/>
              <a:gd name="connsiteY3" fmla="*/ 0 h 687324"/>
              <a:gd name="connsiteX4" fmla="*/ 687324 w 687323"/>
              <a:gd name="connsiteY4" fmla="*/ 343662 h 687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323" h="687324">
                <a:moveTo>
                  <a:pt x="687324" y="343662"/>
                </a:moveTo>
                <a:cubicBezTo>
                  <a:pt x="687324" y="533461"/>
                  <a:pt x="533461" y="687324"/>
                  <a:pt x="343662" y="687324"/>
                </a:cubicBezTo>
                <a:cubicBezTo>
                  <a:pt x="153863" y="687324"/>
                  <a:pt x="0" y="533461"/>
                  <a:pt x="0" y="343662"/>
                </a:cubicBezTo>
                <a:cubicBezTo>
                  <a:pt x="0" y="153863"/>
                  <a:pt x="153863" y="0"/>
                  <a:pt x="343662" y="0"/>
                </a:cubicBezTo>
                <a:cubicBezTo>
                  <a:pt x="533461" y="0"/>
                  <a:pt x="687324" y="153863"/>
                  <a:pt x="687324" y="343662"/>
                </a:cubicBezTo>
                <a:close/>
              </a:path>
            </a:pathLst>
          </a:custGeom>
          <a:solidFill>
            <a:srgbClr val="2C96F2"/>
          </a:solidFill>
          <a:ln w="7620" cap="flat">
            <a:noFill/>
            <a:prstDash val="solid"/>
            <a:miter/>
          </a:ln>
        </p:spPr>
        <p:txBody>
          <a:bodyPr rot="0" spcFirstLastPara="0" vertOverflow="overflow" horzOverflow="overflow" vert="horz" wrap="square" lIns="70291" tIns="35145" rIns="70291" bIns="3514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85">
              <a:solidFill>
                <a:schemeClr val="tx1"/>
              </a:solidFill>
              <a:latin typeface="+mn-ea"/>
              <a:sym typeface="+mn-ea"/>
            </a:endParaRPr>
          </a:p>
        </p:txBody>
      </p:sp>
      <p:sp>
        <p:nvSpPr>
          <p:cNvPr id="37" name="任意多边形: 形状 37"/>
          <p:cNvSpPr/>
          <p:nvPr>
            <p:custDataLst>
              <p:tags r:id="rId6"/>
            </p:custDataLst>
          </p:nvPr>
        </p:nvSpPr>
        <p:spPr>
          <a:xfrm>
            <a:off x="857918" y="1147558"/>
            <a:ext cx="464073" cy="464073"/>
          </a:xfrm>
          <a:custGeom>
            <a:avLst/>
            <a:gdLst>
              <a:gd name="connsiteX0" fmla="*/ 618134 w 618134"/>
              <a:gd name="connsiteY0" fmla="*/ 309067 h 618134"/>
              <a:gd name="connsiteX1" fmla="*/ 309067 w 618134"/>
              <a:gd name="connsiteY1" fmla="*/ 618135 h 618134"/>
              <a:gd name="connsiteX2" fmla="*/ 0 w 618134"/>
              <a:gd name="connsiteY2" fmla="*/ 309067 h 618134"/>
              <a:gd name="connsiteX3" fmla="*/ 309067 w 618134"/>
              <a:gd name="connsiteY3" fmla="*/ 0 h 618134"/>
              <a:gd name="connsiteX4" fmla="*/ 618134 w 618134"/>
              <a:gd name="connsiteY4" fmla="*/ 309067 h 618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134" h="618134">
                <a:moveTo>
                  <a:pt x="618134" y="309067"/>
                </a:moveTo>
                <a:cubicBezTo>
                  <a:pt x="618134" y="479760"/>
                  <a:pt x="479760" y="618135"/>
                  <a:pt x="309067" y="618135"/>
                </a:cubicBezTo>
                <a:cubicBezTo>
                  <a:pt x="138374" y="618135"/>
                  <a:pt x="0" y="479760"/>
                  <a:pt x="0" y="309067"/>
                </a:cubicBezTo>
                <a:cubicBezTo>
                  <a:pt x="0" y="138374"/>
                  <a:pt x="138374" y="0"/>
                  <a:pt x="309067" y="0"/>
                </a:cubicBezTo>
                <a:cubicBezTo>
                  <a:pt x="479760" y="0"/>
                  <a:pt x="618134" y="138374"/>
                  <a:pt x="618134" y="309067"/>
                </a:cubicBezTo>
                <a:close/>
              </a:path>
            </a:pathLst>
          </a:cu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70291" tIns="35145" rIns="70291" bIns="3514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sz="1385">
              <a:solidFill>
                <a:schemeClr val="lt1"/>
              </a:solidFill>
              <a:latin typeface="+mn-ea"/>
              <a:sym typeface="+mn-ea"/>
            </a:endParaRPr>
          </a:p>
        </p:txBody>
      </p:sp>
      <p:sp>
        <p:nvSpPr>
          <p:cNvPr id="38" name="文本框 37"/>
          <p:cNvSpPr txBox="1"/>
          <p:nvPr>
            <p:custDataLst>
              <p:tags r:id="rId7"/>
            </p:custDataLst>
          </p:nvPr>
        </p:nvSpPr>
        <p:spPr>
          <a:xfrm>
            <a:off x="2271122" y="988988"/>
            <a:ext cx="6563317" cy="773614"/>
          </a:xfrm>
          <a:prstGeom prst="rect">
            <a:avLst/>
          </a:prstGeom>
          <a:noFill/>
        </p:spPr>
        <p:txBody>
          <a:bodyPr wrap="square" tIns="0" bIns="0" rtlCol="0" anchor="ctr" anchorCtr="0">
            <a:noAutofit/>
          </a:bodyPr>
          <a:lstStyle/>
          <a:p>
            <a:pPr indent="0" fontAlgn="auto">
              <a:lnSpc>
                <a:spcPct val="120000"/>
              </a:lnSpc>
              <a:spcBef>
                <a:spcPct val="0"/>
              </a:spcBef>
              <a:spcAft>
                <a:spcPct val="0"/>
              </a:spcAft>
            </a:pPr>
            <a:r>
              <a:rPr lang="zh-CN" altLang="en-US" sz="1385" dirty="0">
                <a:ln/>
                <a:solidFill>
                  <a:schemeClr val="tx1"/>
                </a:solidFill>
                <a:effectLst>
                  <a:outerShdw blurRad="38100" dist="19050" dir="2700000" algn="tl" rotWithShape="0">
                    <a:schemeClr val="dk1">
                      <a:alpha val="40000"/>
                      <a:alpha val="40000"/>
                    </a:schemeClr>
                  </a:outerShdw>
                </a:effectLst>
                <a:uFillTx/>
                <a:latin typeface="+mn-ea"/>
                <a:cs typeface="+mn-ea"/>
                <a:sym typeface="+mn-ea"/>
              </a:rPr>
              <a:t>背景</a:t>
            </a:r>
            <a:r>
              <a:rPr lang="en-US" altLang="zh-CN" sz="1385" dirty="0">
                <a:ln/>
                <a:solidFill>
                  <a:schemeClr val="tx1"/>
                </a:solidFill>
                <a:effectLst>
                  <a:outerShdw blurRad="38100" dist="19050" dir="2700000" algn="tl" rotWithShape="0">
                    <a:schemeClr val="dk1">
                      <a:alpha val="40000"/>
                      <a:alpha val="40000"/>
                    </a:schemeClr>
                  </a:outerShdw>
                </a:effectLst>
                <a:uFillTx/>
                <a:latin typeface="+mn-ea"/>
                <a:cs typeface="+mn-ea"/>
                <a:sym typeface="+mn-ea"/>
              </a:rPr>
              <a:t>：</a:t>
            </a:r>
            <a:endParaRPr lang="en-US" altLang="zh-CN" sz="1385" dirty="0">
              <a:ln/>
              <a:solidFill>
                <a:schemeClr val="tx1"/>
              </a:solidFill>
              <a:effectLst>
                <a:outerShdw blurRad="38100" dist="19050" dir="2700000" algn="tl" rotWithShape="0">
                  <a:schemeClr val="dk1">
                    <a:alpha val="40000"/>
                    <a:alpha val="40000"/>
                  </a:schemeClr>
                </a:outerShdw>
              </a:effectLst>
              <a:uFillTx/>
              <a:latin typeface="+mn-ea"/>
              <a:cs typeface="+mn-ea"/>
              <a:sym typeface="+mn-ea"/>
            </a:endParaRPr>
          </a:p>
          <a:p>
            <a:pPr indent="0" fontAlgn="auto">
              <a:lnSpc>
                <a:spcPct val="120000"/>
              </a:lnSpc>
              <a:spcBef>
                <a:spcPct val="0"/>
              </a:spcBef>
              <a:spcAft>
                <a:spcPct val="0"/>
              </a:spcAft>
            </a:pPr>
            <a:r>
              <a:rPr lang="zh-CN" altLang="en-US" sz="1385" dirty="0">
                <a:ln>
                  <a:noFill/>
                  <a:prstDash val="sysDot"/>
                </a:ln>
                <a:solidFill>
                  <a:schemeClr val="tx1">
                    <a:lumMod val="85000"/>
                    <a:lumOff val="15000"/>
                  </a:schemeClr>
                </a:solidFill>
                <a:uFillTx/>
                <a:latin typeface="+mn-ea"/>
                <a:cs typeface="+mn-ea"/>
                <a:sym typeface="+mn-ea"/>
              </a:rPr>
              <a:t>全球开放数据平台复用率提升（</a:t>
            </a:r>
            <a:r>
              <a:rPr lang="en-US" altLang="zh-CN" sz="1385" dirty="0">
                <a:ln>
                  <a:noFill/>
                  <a:prstDash val="sysDot"/>
                </a:ln>
                <a:solidFill>
                  <a:schemeClr val="tx1">
                    <a:lumMod val="85000"/>
                    <a:lumOff val="15000"/>
                  </a:schemeClr>
                </a:solidFill>
                <a:uFillTx/>
                <a:latin typeface="+mn-ea"/>
                <a:cs typeface="+mn-ea"/>
                <a:sym typeface="+mn-ea"/>
              </a:rPr>
              <a:t>2010</a:t>
            </a:r>
            <a:r>
              <a:rPr lang="zh-CN" altLang="en-US" sz="1385" dirty="0">
                <a:ln>
                  <a:noFill/>
                  <a:prstDash val="sysDot"/>
                </a:ln>
                <a:solidFill>
                  <a:schemeClr val="tx1">
                    <a:lumMod val="85000"/>
                    <a:lumOff val="15000"/>
                  </a:schemeClr>
                </a:solidFill>
                <a:uFillTx/>
                <a:latin typeface="+mn-ea"/>
                <a:cs typeface="+mn-ea"/>
                <a:sym typeface="+mn-ea"/>
              </a:rPr>
              <a:t>年</a:t>
            </a:r>
            <a:r>
              <a:rPr lang="en-US" altLang="zh-CN" sz="1385" dirty="0">
                <a:ln>
                  <a:noFill/>
                  <a:prstDash val="sysDot"/>
                </a:ln>
                <a:solidFill>
                  <a:schemeClr val="tx1">
                    <a:lumMod val="85000"/>
                    <a:lumOff val="15000"/>
                  </a:schemeClr>
                </a:solidFill>
                <a:uFillTx/>
                <a:latin typeface="+mn-ea"/>
                <a:cs typeface="+mn-ea"/>
                <a:sym typeface="+mn-ea"/>
              </a:rPr>
              <a:t>15%</a:t>
            </a:r>
            <a:r>
              <a:rPr lang="en-US" altLang="en-US" sz="1385" dirty="0">
                <a:ln>
                  <a:noFill/>
                  <a:prstDash val="sysDot"/>
                </a:ln>
                <a:solidFill>
                  <a:schemeClr val="tx1">
                    <a:lumMod val="85000"/>
                    <a:lumOff val="15000"/>
                  </a:schemeClr>
                </a:solidFill>
                <a:uFillTx/>
                <a:latin typeface="+mn-ea"/>
                <a:cs typeface="+mn-ea"/>
                <a:sym typeface="+mn-ea"/>
              </a:rPr>
              <a:t>→</a:t>
            </a:r>
            <a:r>
              <a:rPr lang="en-US" altLang="zh-CN" sz="1385" dirty="0">
                <a:ln>
                  <a:noFill/>
                  <a:prstDash val="sysDot"/>
                </a:ln>
                <a:solidFill>
                  <a:schemeClr val="tx1">
                    <a:lumMod val="85000"/>
                    <a:lumOff val="15000"/>
                  </a:schemeClr>
                </a:solidFill>
                <a:uFillTx/>
                <a:latin typeface="+mn-ea"/>
                <a:cs typeface="+mn-ea"/>
                <a:sym typeface="+mn-ea"/>
              </a:rPr>
              <a:t>2023</a:t>
            </a:r>
            <a:r>
              <a:rPr lang="zh-CN" altLang="en-US" sz="1385" dirty="0">
                <a:ln>
                  <a:noFill/>
                  <a:prstDash val="sysDot"/>
                </a:ln>
                <a:solidFill>
                  <a:schemeClr val="tx1">
                    <a:lumMod val="85000"/>
                    <a:lumOff val="15000"/>
                  </a:schemeClr>
                </a:solidFill>
                <a:uFillTx/>
                <a:latin typeface="+mn-ea"/>
                <a:cs typeface="+mn-ea"/>
                <a:sym typeface="+mn-ea"/>
              </a:rPr>
              <a:t>年</a:t>
            </a:r>
            <a:r>
              <a:rPr lang="en-US" altLang="zh-CN" sz="1385" dirty="0">
                <a:ln>
                  <a:noFill/>
                  <a:prstDash val="sysDot"/>
                </a:ln>
                <a:solidFill>
                  <a:schemeClr val="tx1">
                    <a:lumMod val="85000"/>
                    <a:lumOff val="15000"/>
                  </a:schemeClr>
                </a:solidFill>
                <a:uFillTx/>
                <a:latin typeface="+mn-ea"/>
                <a:cs typeface="+mn-ea"/>
                <a:sym typeface="+mn-ea"/>
              </a:rPr>
              <a:t>43%</a:t>
            </a:r>
            <a:r>
              <a:rPr lang="zh-CN" altLang="en-US" sz="1385" dirty="0">
                <a:ln>
                  <a:noFill/>
                  <a:prstDash val="sysDot"/>
                </a:ln>
                <a:solidFill>
                  <a:schemeClr val="tx1">
                    <a:lumMod val="85000"/>
                    <a:lumOff val="15000"/>
                  </a:schemeClr>
                </a:solidFill>
                <a:uFillTx/>
                <a:latin typeface="+mn-ea"/>
                <a:cs typeface="+mn-ea"/>
                <a:sym typeface="+mn-ea"/>
              </a:rPr>
              <a:t>）</a:t>
            </a:r>
            <a:endParaRPr lang="en-US" altLang="zh-CN" sz="1385" dirty="0">
              <a:ln>
                <a:noFill/>
                <a:prstDash val="sysDot"/>
              </a:ln>
              <a:solidFill>
                <a:schemeClr val="tx1">
                  <a:lumMod val="85000"/>
                  <a:lumOff val="15000"/>
                </a:schemeClr>
              </a:solidFill>
              <a:uFillTx/>
              <a:latin typeface="+mn-ea"/>
              <a:cs typeface="+mn-ea"/>
              <a:sym typeface="+mn-ea"/>
            </a:endParaRPr>
          </a:p>
          <a:p>
            <a:pPr indent="0" fontAlgn="auto">
              <a:lnSpc>
                <a:spcPct val="120000"/>
              </a:lnSpc>
              <a:spcBef>
                <a:spcPct val="0"/>
              </a:spcBef>
              <a:spcAft>
                <a:spcPct val="0"/>
              </a:spcAft>
            </a:pPr>
            <a:r>
              <a:rPr lang="zh-CN" altLang="en-US" sz="1385" dirty="0">
                <a:ln>
                  <a:noFill/>
                  <a:prstDash val="sysDot"/>
                </a:ln>
                <a:solidFill>
                  <a:schemeClr val="tx1">
                    <a:lumMod val="85000"/>
                    <a:lumOff val="15000"/>
                  </a:schemeClr>
                </a:solidFill>
                <a:uFillTx/>
                <a:latin typeface="+mn-ea"/>
                <a:cs typeface="+mn-ea"/>
                <a:sym typeface="+mn-ea"/>
              </a:rPr>
              <a:t>学科差异显著（经济学</a:t>
            </a:r>
            <a:r>
              <a:rPr lang="en-US" altLang="zh-CN" sz="1385" dirty="0">
                <a:ln>
                  <a:noFill/>
                  <a:prstDash val="sysDot"/>
                </a:ln>
                <a:solidFill>
                  <a:schemeClr val="tx1">
                    <a:lumMod val="85000"/>
                    <a:lumOff val="15000"/>
                  </a:schemeClr>
                </a:solidFill>
                <a:uFillTx/>
                <a:latin typeface="+mn-ea"/>
                <a:cs typeface="+mn-ea"/>
                <a:sym typeface="+mn-ea"/>
              </a:rPr>
              <a:t>58% vs. </a:t>
            </a:r>
            <a:r>
              <a:rPr lang="zh-CN" altLang="en-US" sz="1385" dirty="0">
                <a:ln>
                  <a:noFill/>
                  <a:prstDash val="sysDot"/>
                </a:ln>
                <a:solidFill>
                  <a:schemeClr val="tx1">
                    <a:lumMod val="85000"/>
                    <a:lumOff val="15000"/>
                  </a:schemeClr>
                </a:solidFill>
                <a:uFillTx/>
                <a:latin typeface="+mn-ea"/>
                <a:cs typeface="+mn-ea"/>
                <a:sym typeface="+mn-ea"/>
              </a:rPr>
              <a:t>社会学</a:t>
            </a:r>
            <a:r>
              <a:rPr lang="en-US" altLang="zh-CN" sz="1385" dirty="0">
                <a:ln>
                  <a:noFill/>
                  <a:prstDash val="sysDot"/>
                </a:ln>
                <a:solidFill>
                  <a:schemeClr val="tx1">
                    <a:lumMod val="85000"/>
                    <a:lumOff val="15000"/>
                  </a:schemeClr>
                </a:solidFill>
                <a:uFillTx/>
                <a:latin typeface="+mn-ea"/>
                <a:cs typeface="+mn-ea"/>
                <a:sym typeface="+mn-ea"/>
              </a:rPr>
              <a:t>32%</a:t>
            </a:r>
            <a:r>
              <a:rPr lang="zh-CN" altLang="en-US" sz="1385" dirty="0">
                <a:ln>
                  <a:noFill/>
                  <a:prstDash val="sysDot"/>
                </a:ln>
                <a:solidFill>
                  <a:schemeClr val="tx1">
                    <a:lumMod val="85000"/>
                    <a:lumOff val="15000"/>
                  </a:schemeClr>
                </a:solidFill>
                <a:uFillTx/>
                <a:latin typeface="+mn-ea"/>
                <a:cs typeface="+mn-ea"/>
                <a:sym typeface="+mn-ea"/>
              </a:rPr>
              <a:t>）</a:t>
            </a:r>
            <a:endParaRPr lang="zh-CN" altLang="en-US" sz="1385" dirty="0">
              <a:ln>
                <a:noFill/>
                <a:prstDash val="sysDot"/>
              </a:ln>
              <a:solidFill>
                <a:schemeClr val="tx1">
                  <a:lumMod val="85000"/>
                  <a:lumOff val="15000"/>
                </a:schemeClr>
              </a:solidFill>
              <a:uFillTx/>
              <a:latin typeface="+mn-ea"/>
              <a:cs typeface="+mn-ea"/>
              <a:sym typeface="+mn-ea"/>
            </a:endParaRPr>
          </a:p>
        </p:txBody>
      </p:sp>
      <p:sp>
        <p:nvSpPr>
          <p:cNvPr id="39" name="文本框 38"/>
          <p:cNvSpPr txBox="1"/>
          <p:nvPr>
            <p:custDataLst>
              <p:tags r:id="rId8"/>
            </p:custDataLst>
          </p:nvPr>
        </p:nvSpPr>
        <p:spPr>
          <a:xfrm>
            <a:off x="2271122" y="2628093"/>
            <a:ext cx="6563317" cy="773614"/>
          </a:xfrm>
          <a:prstGeom prst="rect">
            <a:avLst/>
          </a:prstGeom>
          <a:noFill/>
        </p:spPr>
        <p:txBody>
          <a:bodyPr wrap="square" tIns="0" bIns="0" rtlCol="0" anchor="ctr" anchorCtr="0">
            <a:noAutofit/>
          </a:bodyPr>
          <a:lstStyle/>
          <a:p>
            <a:pPr lvl="0" algn="l">
              <a:lnSpc>
                <a:spcPct val="120000"/>
              </a:lnSpc>
              <a:buClrTx/>
              <a:buSzTx/>
              <a:buFontTx/>
            </a:pPr>
            <a:r>
              <a:rPr lang="zh-CN" altLang="en-US" sz="1385" dirty="0">
                <a:effectLst>
                  <a:outerShdw blurRad="38100" dist="19050" dir="2700000" algn="tl" rotWithShape="0">
                    <a:schemeClr val="dk1">
                      <a:alpha val="40000"/>
                      <a:alpha val="40000"/>
                    </a:schemeClr>
                  </a:outerShdw>
                </a:effectLst>
                <a:uFillTx/>
                <a:latin typeface="+mn-ea"/>
                <a:cs typeface="+mn-ea"/>
                <a:sym typeface="+mn-ea"/>
              </a:rPr>
              <a:t>目的：</a:t>
            </a:r>
            <a:endParaRPr lang="zh-CN" altLang="en-US" sz="1385" dirty="0">
              <a:effectLst>
                <a:outerShdw blurRad="38100" dist="19050" dir="2700000" algn="tl" rotWithShape="0">
                  <a:schemeClr val="dk1">
                    <a:alpha val="40000"/>
                    <a:alpha val="40000"/>
                  </a:schemeClr>
                </a:outerShdw>
              </a:effectLst>
              <a:uFillTx/>
              <a:latin typeface="+mn-ea"/>
              <a:cs typeface="+mn-ea"/>
              <a:sym typeface="+mn-ea"/>
            </a:endParaRPr>
          </a:p>
          <a:p>
            <a:pPr lvl="0" algn="l">
              <a:lnSpc>
                <a:spcPct val="120000"/>
              </a:lnSpc>
              <a:buClrTx/>
              <a:buSzTx/>
              <a:buFontTx/>
            </a:pPr>
            <a:r>
              <a:rPr lang="zh-CN" altLang="en-US" sz="1385" dirty="0">
                <a:ln>
                  <a:noFill/>
                  <a:prstDash val="sysDot"/>
                </a:ln>
                <a:solidFill>
                  <a:schemeClr val="tx1">
                    <a:lumMod val="85000"/>
                    <a:lumOff val="15000"/>
                  </a:schemeClr>
                </a:solidFill>
                <a:latin typeface="+mn-ea"/>
                <a:cs typeface="+mn-ea"/>
                <a:sym typeface="+mn-ea"/>
              </a:rPr>
              <a:t>理论上</a:t>
            </a:r>
            <a:r>
              <a:rPr lang="en-US" altLang="zh-CN" sz="1385" dirty="0">
                <a:ln>
                  <a:noFill/>
                  <a:prstDash val="sysDot"/>
                </a:ln>
                <a:solidFill>
                  <a:schemeClr val="tx1">
                    <a:lumMod val="85000"/>
                    <a:lumOff val="15000"/>
                  </a:schemeClr>
                </a:solidFill>
                <a:latin typeface="+mn-ea"/>
                <a:cs typeface="+mn-ea"/>
                <a:sym typeface="+mn-ea"/>
              </a:rPr>
              <a:t>，</a:t>
            </a:r>
            <a:r>
              <a:rPr lang="zh-CN" altLang="en-US" sz="1385" dirty="0">
                <a:ln>
                  <a:noFill/>
                  <a:prstDash val="sysDot"/>
                </a:ln>
                <a:solidFill>
                  <a:schemeClr val="tx1">
                    <a:lumMod val="85000"/>
                    <a:lumOff val="15000"/>
                  </a:schemeClr>
                </a:solidFill>
                <a:latin typeface="+mn-ea"/>
                <a:cs typeface="+mn-ea"/>
                <a:sym typeface="+mn-ea"/>
              </a:rPr>
              <a:t>构建</a:t>
            </a:r>
            <a:r>
              <a:rPr lang="en-US" altLang="zh-CN" sz="1385" dirty="0">
                <a:ln>
                  <a:noFill/>
                  <a:prstDash val="sysDot"/>
                </a:ln>
                <a:solidFill>
                  <a:schemeClr val="tx1">
                    <a:lumMod val="85000"/>
                    <a:lumOff val="15000"/>
                  </a:schemeClr>
                </a:solidFill>
                <a:latin typeface="+mn-ea"/>
                <a:cs typeface="+mn-ea"/>
                <a:sym typeface="+mn-ea"/>
              </a:rPr>
              <a:t>S-O-R</a:t>
            </a:r>
            <a:r>
              <a:rPr lang="zh-CN" altLang="en-US" sz="1385" dirty="0">
                <a:ln>
                  <a:noFill/>
                  <a:prstDash val="sysDot"/>
                </a:ln>
                <a:solidFill>
                  <a:schemeClr val="tx1">
                    <a:lumMod val="85000"/>
                    <a:lumOff val="15000"/>
                  </a:schemeClr>
                </a:solidFill>
                <a:latin typeface="+mn-ea"/>
                <a:cs typeface="+mn-ea"/>
                <a:sym typeface="+mn-ea"/>
              </a:rPr>
              <a:t>模型分析社交线索</a:t>
            </a:r>
            <a:r>
              <a:rPr lang="en-US" altLang="en-US" sz="1385" dirty="0">
                <a:ln>
                  <a:noFill/>
                  <a:prstDash val="sysDot"/>
                </a:ln>
                <a:solidFill>
                  <a:schemeClr val="tx1">
                    <a:lumMod val="85000"/>
                    <a:lumOff val="15000"/>
                  </a:schemeClr>
                </a:solidFill>
                <a:latin typeface="+mn-ea"/>
                <a:cs typeface="+mn-ea"/>
                <a:sym typeface="+mn-ea"/>
              </a:rPr>
              <a:t>→</a:t>
            </a:r>
            <a:r>
              <a:rPr lang="zh-CN" altLang="en-US" sz="1385" dirty="0">
                <a:ln>
                  <a:noFill/>
                  <a:prstDash val="sysDot"/>
                </a:ln>
                <a:solidFill>
                  <a:schemeClr val="tx1">
                    <a:lumMod val="85000"/>
                    <a:lumOff val="15000"/>
                  </a:schemeClr>
                </a:solidFill>
                <a:latin typeface="+mn-ea"/>
                <a:cs typeface="+mn-ea"/>
                <a:sym typeface="+mn-ea"/>
              </a:rPr>
              <a:t>感知有用性</a:t>
            </a:r>
            <a:r>
              <a:rPr lang="en-US" altLang="en-US" sz="1385" dirty="0">
                <a:ln>
                  <a:noFill/>
                  <a:prstDash val="sysDot"/>
                </a:ln>
                <a:solidFill>
                  <a:schemeClr val="tx1">
                    <a:lumMod val="85000"/>
                    <a:lumOff val="15000"/>
                  </a:schemeClr>
                </a:solidFill>
                <a:latin typeface="+mn-ea"/>
                <a:cs typeface="+mn-ea"/>
                <a:sym typeface="+mn-ea"/>
              </a:rPr>
              <a:t>→</a:t>
            </a:r>
            <a:r>
              <a:rPr lang="zh-CN" altLang="en-US" sz="1385" dirty="0">
                <a:ln>
                  <a:noFill/>
                  <a:prstDash val="sysDot"/>
                </a:ln>
                <a:solidFill>
                  <a:schemeClr val="tx1">
                    <a:lumMod val="85000"/>
                    <a:lumOff val="15000"/>
                  </a:schemeClr>
                </a:solidFill>
                <a:latin typeface="+mn-ea"/>
                <a:cs typeface="+mn-ea"/>
                <a:sym typeface="+mn-ea"/>
              </a:rPr>
              <a:t>复用行为的路径</a:t>
            </a:r>
            <a:endParaRPr lang="en-US" altLang="zh-CN" sz="1385" dirty="0">
              <a:ln>
                <a:noFill/>
                <a:prstDash val="sysDot"/>
              </a:ln>
              <a:solidFill>
                <a:schemeClr val="tx1">
                  <a:lumMod val="85000"/>
                  <a:lumOff val="15000"/>
                </a:schemeClr>
              </a:solidFill>
              <a:latin typeface="+mn-ea"/>
              <a:cs typeface="+mn-ea"/>
              <a:sym typeface="+mn-ea"/>
            </a:endParaRPr>
          </a:p>
          <a:p>
            <a:pPr lvl="0" algn="l">
              <a:lnSpc>
                <a:spcPct val="120000"/>
              </a:lnSpc>
              <a:buClrTx/>
              <a:buSzTx/>
              <a:buFontTx/>
            </a:pPr>
            <a:r>
              <a:rPr lang="zh-CN" altLang="en-US" sz="1385" dirty="0">
                <a:ln>
                  <a:noFill/>
                  <a:prstDash val="sysDot"/>
                </a:ln>
                <a:solidFill>
                  <a:schemeClr val="tx1">
                    <a:lumMod val="85000"/>
                    <a:lumOff val="15000"/>
                  </a:schemeClr>
                </a:solidFill>
                <a:latin typeface="+mn-ea"/>
                <a:cs typeface="+mn-ea"/>
                <a:sym typeface="+mn-ea"/>
              </a:rPr>
              <a:t>实践上</a:t>
            </a:r>
            <a:r>
              <a:rPr lang="en-US" altLang="zh-CN" sz="1385" dirty="0">
                <a:ln>
                  <a:noFill/>
                  <a:prstDash val="sysDot"/>
                </a:ln>
                <a:solidFill>
                  <a:schemeClr val="tx1">
                    <a:lumMod val="85000"/>
                    <a:lumOff val="15000"/>
                  </a:schemeClr>
                </a:solidFill>
                <a:latin typeface="+mn-ea"/>
                <a:cs typeface="+mn-ea"/>
                <a:sym typeface="+mn-ea"/>
              </a:rPr>
              <a:t>，</a:t>
            </a:r>
            <a:r>
              <a:rPr lang="zh-CN" altLang="en-US" sz="1385" dirty="0">
                <a:ln>
                  <a:noFill/>
                  <a:prstDash val="sysDot"/>
                </a:ln>
                <a:solidFill>
                  <a:schemeClr val="tx1">
                    <a:lumMod val="85000"/>
                    <a:lumOff val="15000"/>
                  </a:schemeClr>
                </a:solidFill>
                <a:latin typeface="+mn-ea"/>
                <a:cs typeface="+mn-ea"/>
                <a:sym typeface="+mn-ea"/>
              </a:rPr>
              <a:t>优化数据平台设计，提升用户决策效率</a:t>
            </a:r>
            <a:endParaRPr lang="zh-CN" altLang="en-US" sz="1385" dirty="0">
              <a:ln>
                <a:noFill/>
                <a:prstDash val="sysDot"/>
              </a:ln>
              <a:solidFill>
                <a:schemeClr val="tx1">
                  <a:lumMod val="85000"/>
                  <a:lumOff val="15000"/>
                </a:schemeClr>
              </a:solidFill>
              <a:latin typeface="+mn-ea"/>
              <a:cs typeface="+mn-ea"/>
              <a:sym typeface="+mn-ea"/>
            </a:endParaRPr>
          </a:p>
          <a:p>
            <a:pPr lvl="0" algn="l">
              <a:lnSpc>
                <a:spcPct val="120000"/>
              </a:lnSpc>
              <a:buClrTx/>
              <a:buSzTx/>
              <a:buFontTx/>
            </a:pPr>
            <a:endParaRPr lang="en-US" altLang="zh-CN" sz="1385" dirty="0">
              <a:ln>
                <a:noFill/>
                <a:prstDash val="sysDot"/>
              </a:ln>
              <a:solidFill>
                <a:schemeClr val="tx1">
                  <a:lumMod val="85000"/>
                  <a:lumOff val="15000"/>
                </a:schemeClr>
              </a:solidFill>
              <a:latin typeface="+mn-ea"/>
              <a:cs typeface="+mn-ea"/>
              <a:sym typeface="+mn-ea"/>
            </a:endParaRPr>
          </a:p>
          <a:p>
            <a:pPr lvl="0" algn="l">
              <a:lnSpc>
                <a:spcPct val="120000"/>
              </a:lnSpc>
              <a:buClrTx/>
              <a:buSzTx/>
              <a:buFontTx/>
            </a:pPr>
            <a:endParaRPr lang="en-US" altLang="zh-CN" sz="1385" dirty="0">
              <a:ln>
                <a:noFill/>
                <a:prstDash val="sysDot"/>
              </a:ln>
              <a:solidFill>
                <a:schemeClr val="tx1">
                  <a:lumMod val="85000"/>
                  <a:lumOff val="15000"/>
                </a:schemeClr>
              </a:solidFill>
              <a:latin typeface="+mn-ea"/>
              <a:cs typeface="+mn-ea"/>
              <a:sym typeface="+mn-ea"/>
            </a:endParaRPr>
          </a:p>
        </p:txBody>
      </p:sp>
      <p:sp>
        <p:nvSpPr>
          <p:cNvPr id="40" name="文本框 39"/>
          <p:cNvSpPr txBox="1"/>
          <p:nvPr>
            <p:custDataLst>
              <p:tags r:id="rId9"/>
            </p:custDataLst>
          </p:nvPr>
        </p:nvSpPr>
        <p:spPr>
          <a:xfrm>
            <a:off x="2271122" y="3554727"/>
            <a:ext cx="6563317" cy="773614"/>
          </a:xfrm>
          <a:prstGeom prst="rect">
            <a:avLst/>
          </a:prstGeom>
          <a:noFill/>
        </p:spPr>
        <p:txBody>
          <a:bodyPr wrap="square" tIns="0" bIns="0" rtlCol="0" anchor="ctr" anchorCtr="0">
            <a:noAutofit/>
          </a:bodyPr>
          <a:lstStyle/>
          <a:p>
            <a:pPr algn="l" fontAlgn="auto">
              <a:lnSpc>
                <a:spcPct val="120000"/>
              </a:lnSpc>
              <a:buClrTx/>
              <a:buSzTx/>
              <a:buFontTx/>
            </a:pPr>
            <a:r>
              <a:rPr lang="zh-CN" altLang="en-US" sz="1385" dirty="0">
                <a:effectLst>
                  <a:outerShdw blurRad="38100" dist="19050" dir="2700000" algn="tl" rotWithShape="0">
                    <a:schemeClr val="dk1">
                      <a:alpha val="40000"/>
                      <a:alpha val="40000"/>
                    </a:schemeClr>
                  </a:outerShdw>
                </a:effectLst>
                <a:uFillTx/>
                <a:latin typeface="+mn-ea"/>
                <a:cs typeface="+mn-ea"/>
                <a:sym typeface="+mn-ea"/>
              </a:rPr>
              <a:t>意义：</a:t>
            </a:r>
            <a:endParaRPr lang="zh-CN" altLang="en-US" sz="1385" dirty="0">
              <a:effectLst>
                <a:outerShdw blurRad="38100" dist="19050" dir="2700000" algn="tl" rotWithShape="0">
                  <a:schemeClr val="dk1">
                    <a:alpha val="40000"/>
                    <a:alpha val="40000"/>
                  </a:schemeClr>
                </a:outerShdw>
              </a:effectLst>
              <a:uFillTx/>
              <a:latin typeface="+mn-ea"/>
              <a:cs typeface="+mn-ea"/>
              <a:sym typeface="+mn-ea"/>
            </a:endParaRPr>
          </a:p>
          <a:p>
            <a:pPr indent="0" fontAlgn="auto">
              <a:lnSpc>
                <a:spcPct val="120000"/>
              </a:lnSpc>
              <a:spcBef>
                <a:spcPct val="0"/>
              </a:spcBef>
              <a:spcAft>
                <a:spcPct val="0"/>
              </a:spcAft>
            </a:pPr>
            <a:r>
              <a:rPr lang="zh-CN" altLang="en-US" sz="1385" dirty="0">
                <a:ln>
                  <a:noFill/>
                  <a:prstDash val="sysDot"/>
                </a:ln>
                <a:solidFill>
                  <a:schemeClr val="tx1">
                    <a:lumMod val="85000"/>
                    <a:lumOff val="15000"/>
                  </a:schemeClr>
                </a:solidFill>
                <a:uFillTx/>
                <a:latin typeface="+mn-ea"/>
                <a:cs typeface="+mn-ea"/>
                <a:sym typeface="+mn-ea"/>
              </a:rPr>
              <a:t>理论方面</a:t>
            </a:r>
            <a:r>
              <a:rPr lang="en-US" altLang="zh-CN" sz="1385" dirty="0">
                <a:ln>
                  <a:noFill/>
                  <a:prstDash val="sysDot"/>
                </a:ln>
                <a:solidFill>
                  <a:schemeClr val="tx1">
                    <a:lumMod val="85000"/>
                    <a:lumOff val="15000"/>
                  </a:schemeClr>
                </a:solidFill>
                <a:uFillTx/>
                <a:latin typeface="+mn-ea"/>
                <a:cs typeface="+mn-ea"/>
                <a:sym typeface="+mn-ea"/>
              </a:rPr>
              <a:t>，</a:t>
            </a:r>
            <a:r>
              <a:rPr lang="zh-CN" altLang="en-US" sz="1385" dirty="0">
                <a:ln>
                  <a:noFill/>
                  <a:prstDash val="sysDot"/>
                </a:ln>
                <a:solidFill>
                  <a:schemeClr val="tx1">
                    <a:lumMod val="85000"/>
                    <a:lumOff val="15000"/>
                  </a:schemeClr>
                </a:solidFill>
                <a:uFillTx/>
                <a:latin typeface="+mn-ea"/>
                <a:cs typeface="+mn-ea"/>
                <a:sym typeface="+mn-ea"/>
              </a:rPr>
              <a:t>通过</a:t>
            </a:r>
            <a:r>
              <a:rPr lang="en-US" altLang="zh-CN" sz="1385" dirty="0">
                <a:ln>
                  <a:noFill/>
                  <a:prstDash val="sysDot"/>
                </a:ln>
                <a:solidFill>
                  <a:schemeClr val="tx1">
                    <a:lumMod val="85000"/>
                    <a:lumOff val="15000"/>
                  </a:schemeClr>
                </a:solidFill>
                <a:uFillTx/>
                <a:latin typeface="+mn-ea"/>
                <a:cs typeface="+mn-ea"/>
                <a:sym typeface="+mn-ea"/>
              </a:rPr>
              <a:t>S-O-R</a:t>
            </a:r>
            <a:r>
              <a:rPr lang="zh-CN" altLang="en-US" sz="1385" dirty="0">
                <a:ln>
                  <a:noFill/>
                  <a:prstDash val="sysDot"/>
                </a:ln>
                <a:solidFill>
                  <a:schemeClr val="tx1">
                    <a:lumMod val="85000"/>
                    <a:lumOff val="15000"/>
                  </a:schemeClr>
                </a:solidFill>
                <a:uFillTx/>
                <a:latin typeface="+mn-ea"/>
                <a:cs typeface="+mn-ea"/>
                <a:sym typeface="+mn-ea"/>
              </a:rPr>
              <a:t>模型，揭示中介机制</a:t>
            </a:r>
            <a:endParaRPr lang="en-US" altLang="zh-CN" sz="1385" dirty="0">
              <a:ln>
                <a:noFill/>
                <a:prstDash val="sysDot"/>
              </a:ln>
              <a:solidFill>
                <a:schemeClr val="tx1">
                  <a:lumMod val="85000"/>
                  <a:lumOff val="15000"/>
                </a:schemeClr>
              </a:solidFill>
              <a:uFillTx/>
              <a:latin typeface="+mn-ea"/>
              <a:cs typeface="+mn-ea"/>
              <a:sym typeface="+mn-ea"/>
            </a:endParaRPr>
          </a:p>
          <a:p>
            <a:pPr indent="0" fontAlgn="auto">
              <a:lnSpc>
                <a:spcPct val="120000"/>
              </a:lnSpc>
              <a:spcBef>
                <a:spcPct val="0"/>
              </a:spcBef>
              <a:spcAft>
                <a:spcPct val="0"/>
              </a:spcAft>
            </a:pPr>
            <a:r>
              <a:rPr lang="zh-CN" altLang="en-US" sz="1385" dirty="0">
                <a:ln>
                  <a:noFill/>
                  <a:prstDash val="sysDot"/>
                </a:ln>
                <a:solidFill>
                  <a:schemeClr val="tx1">
                    <a:lumMod val="85000"/>
                    <a:lumOff val="15000"/>
                  </a:schemeClr>
                </a:solidFill>
                <a:uFillTx/>
                <a:latin typeface="+mn-ea"/>
                <a:cs typeface="+mn-ea"/>
                <a:sym typeface="+mn-ea"/>
              </a:rPr>
              <a:t>实践方面</a:t>
            </a:r>
            <a:r>
              <a:rPr lang="en-US" altLang="zh-CN" sz="1385" dirty="0">
                <a:ln>
                  <a:noFill/>
                  <a:prstDash val="sysDot"/>
                </a:ln>
                <a:solidFill>
                  <a:schemeClr val="tx1">
                    <a:lumMod val="85000"/>
                    <a:lumOff val="15000"/>
                  </a:schemeClr>
                </a:solidFill>
                <a:uFillTx/>
                <a:latin typeface="+mn-ea"/>
                <a:cs typeface="+mn-ea"/>
                <a:sym typeface="+mn-ea"/>
              </a:rPr>
              <a:t>，</a:t>
            </a:r>
            <a:r>
              <a:rPr lang="zh-CN" altLang="en-US" sz="1385" dirty="0">
                <a:ln>
                  <a:noFill/>
                  <a:prstDash val="sysDot"/>
                </a:ln>
                <a:solidFill>
                  <a:schemeClr val="tx1">
                    <a:lumMod val="85000"/>
                    <a:lumOff val="15000"/>
                  </a:schemeClr>
                </a:solidFill>
                <a:uFillTx/>
                <a:latin typeface="+mn-ea"/>
                <a:cs typeface="+mn-ea"/>
                <a:sym typeface="+mn-ea"/>
              </a:rPr>
              <a:t>为平台功能设计（评论模块、身份可视化）提供依据</a:t>
            </a:r>
            <a:endParaRPr lang="zh-CN" altLang="en-US" sz="1385" dirty="0">
              <a:ln>
                <a:noFill/>
                <a:prstDash val="sysDot"/>
              </a:ln>
              <a:solidFill>
                <a:schemeClr val="tx1">
                  <a:lumMod val="85000"/>
                  <a:lumOff val="15000"/>
                </a:schemeClr>
              </a:solidFill>
              <a:uFillTx/>
              <a:latin typeface="+mn-ea"/>
              <a:cs typeface="+mn-ea"/>
              <a:sym typeface="+mn-ea"/>
            </a:endParaRPr>
          </a:p>
        </p:txBody>
      </p:sp>
      <p:sp>
        <p:nvSpPr>
          <p:cNvPr id="41" name="任意多边形: 形状 50"/>
          <p:cNvSpPr/>
          <p:nvPr>
            <p:custDataLst>
              <p:tags r:id="rId10"/>
            </p:custDataLst>
          </p:nvPr>
        </p:nvSpPr>
        <p:spPr>
          <a:xfrm>
            <a:off x="850287" y="3785095"/>
            <a:ext cx="465083" cy="465083"/>
          </a:xfrm>
          <a:custGeom>
            <a:avLst/>
            <a:gdLst>
              <a:gd name="connsiteX0" fmla="*/ 618134 w 618134"/>
              <a:gd name="connsiteY0" fmla="*/ 309067 h 618134"/>
              <a:gd name="connsiteX1" fmla="*/ 309067 w 618134"/>
              <a:gd name="connsiteY1" fmla="*/ 618135 h 618134"/>
              <a:gd name="connsiteX2" fmla="*/ 0 w 618134"/>
              <a:gd name="connsiteY2" fmla="*/ 309067 h 618134"/>
              <a:gd name="connsiteX3" fmla="*/ 309067 w 618134"/>
              <a:gd name="connsiteY3" fmla="*/ 0 h 618134"/>
              <a:gd name="connsiteX4" fmla="*/ 618134 w 618134"/>
              <a:gd name="connsiteY4" fmla="*/ 309067 h 618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134" h="618134">
                <a:moveTo>
                  <a:pt x="618134" y="309067"/>
                </a:moveTo>
                <a:cubicBezTo>
                  <a:pt x="618134" y="479760"/>
                  <a:pt x="479760" y="618135"/>
                  <a:pt x="309067" y="618135"/>
                </a:cubicBezTo>
                <a:cubicBezTo>
                  <a:pt x="138374" y="618135"/>
                  <a:pt x="0" y="479760"/>
                  <a:pt x="0" y="309067"/>
                </a:cubicBezTo>
                <a:cubicBezTo>
                  <a:pt x="0" y="138374"/>
                  <a:pt x="138374" y="0"/>
                  <a:pt x="309067" y="0"/>
                </a:cubicBezTo>
                <a:cubicBezTo>
                  <a:pt x="479760" y="0"/>
                  <a:pt x="618134" y="138374"/>
                  <a:pt x="618134" y="309067"/>
                </a:cubicBezTo>
                <a:close/>
              </a:path>
            </a:pathLst>
          </a:custGeom>
          <a:solidFill>
            <a:schemeClr val="accent1">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70291" tIns="35145" rIns="70291" bIns="3514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sz="1385">
              <a:solidFill>
                <a:schemeClr val="lt1"/>
              </a:solidFill>
              <a:latin typeface="+mn-ea"/>
              <a:sym typeface="+mn-ea"/>
            </a:endParaRPr>
          </a:p>
        </p:txBody>
      </p:sp>
      <p:sp>
        <p:nvSpPr>
          <p:cNvPr id="46" name="文本框 45"/>
          <p:cNvSpPr txBox="1"/>
          <p:nvPr/>
        </p:nvSpPr>
        <p:spPr>
          <a:xfrm>
            <a:off x="2940496" y="450638"/>
            <a:ext cx="2876631" cy="51435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rPr>
              <a:t>选题背景</a:t>
            </a:r>
            <a:endParaRPr lang="en-US" altLang="zh-CN" sz="1800" dirty="0" smtClean="0">
              <a:solidFill>
                <a:srgbClr val="33495E"/>
              </a:solidFill>
              <a:latin typeface="微软雅黑" pitchFamily="34" charset="-122"/>
              <a:ea typeface="微软雅黑" pitchFamily="34" charset="-122"/>
            </a:endParaRPr>
          </a:p>
          <a:p>
            <a:pPr algn="ctr"/>
            <a:r>
              <a:rPr lang="en-US" altLang="zh-CN" sz="950" dirty="0">
                <a:solidFill>
                  <a:srgbClr val="33495E"/>
                </a:solidFill>
                <a:latin typeface="微软雅黑" pitchFamily="34" charset="-122"/>
                <a:ea typeface="微软雅黑" pitchFamily="34" charset="-122"/>
              </a:rPr>
              <a:t>Background </a:t>
            </a:r>
            <a:endParaRPr lang="en-US" altLang="zh-CN" sz="950" dirty="0">
              <a:solidFill>
                <a:srgbClr val="33495E"/>
              </a:solidFill>
              <a:latin typeface="微软雅黑" pitchFamily="34" charset="-122"/>
              <a:ea typeface="微软雅黑"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24"/>
          <p:cNvSpPr>
            <a:spLocks noChangeArrowheads="1"/>
          </p:cNvSpPr>
          <p:nvPr/>
        </p:nvSpPr>
        <p:spPr bwMode="auto">
          <a:xfrm>
            <a:off x="1475846" y="1782887"/>
            <a:ext cx="87471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2400" dirty="0" smtClean="0">
                <a:solidFill>
                  <a:schemeClr val="bg1"/>
                </a:solidFill>
                <a:latin typeface="微软雅黑" pitchFamily="34" charset="-122"/>
                <a:ea typeface="微软雅黑" pitchFamily="34" charset="-122"/>
              </a:rPr>
              <a:t>国内现状</a:t>
            </a:r>
            <a:endParaRPr lang="zh-CN" altLang="en-US" sz="2400" dirty="0">
              <a:solidFill>
                <a:schemeClr val="bg1"/>
              </a:solidFill>
              <a:latin typeface="微软雅黑" pitchFamily="34" charset="-122"/>
              <a:ea typeface="微软雅黑" pitchFamily="34" charset="-122"/>
            </a:endParaRPr>
          </a:p>
        </p:txBody>
      </p:sp>
      <p:sp>
        <p:nvSpPr>
          <p:cNvPr id="46" name="文本框 45"/>
          <p:cNvSpPr txBox="1"/>
          <p:nvPr/>
        </p:nvSpPr>
        <p:spPr>
          <a:xfrm>
            <a:off x="2940496" y="467783"/>
            <a:ext cx="2876631" cy="514350"/>
          </a:xfrm>
          <a:prstGeom prst="rect">
            <a:avLst/>
          </a:prstGeom>
          <a:noFill/>
        </p:spPr>
        <p:txBody>
          <a:bodyPr wrap="square" rtlCol="0">
            <a:spAutoFit/>
          </a:bodyPr>
          <a:p>
            <a:pPr algn="ctr"/>
            <a:r>
              <a:rPr lang="zh-CN" altLang="en-US" sz="1800" dirty="0">
                <a:solidFill>
                  <a:srgbClr val="33495E"/>
                </a:solidFill>
                <a:latin typeface="微软雅黑" pitchFamily="34" charset="-122"/>
                <a:ea typeface="微软雅黑" pitchFamily="34" charset="-122"/>
              </a:rPr>
              <a:t>研究内容</a:t>
            </a:r>
            <a:endParaRPr lang="en-US" altLang="zh-CN" sz="1800" dirty="0" smtClean="0">
              <a:solidFill>
                <a:srgbClr val="33495E"/>
              </a:solidFill>
              <a:latin typeface="微软雅黑" pitchFamily="34" charset="-122"/>
              <a:ea typeface="微软雅黑" pitchFamily="34" charset="-122"/>
            </a:endParaRPr>
          </a:p>
          <a:p>
            <a:pPr algn="ctr"/>
            <a:r>
              <a:rPr lang="en-US" altLang="zh-CN" sz="950" dirty="0">
                <a:solidFill>
                  <a:srgbClr val="33495E"/>
                </a:solidFill>
                <a:latin typeface="微软雅黑" pitchFamily="34" charset="-122"/>
                <a:ea typeface="微软雅黑" pitchFamily="34" charset="-122"/>
              </a:rPr>
              <a:t>research contents </a:t>
            </a:r>
            <a:endParaRPr lang="en-US" altLang="zh-CN" sz="950" dirty="0">
              <a:solidFill>
                <a:srgbClr val="33495E"/>
              </a:solidFill>
              <a:latin typeface="微软雅黑" pitchFamily="34" charset="-122"/>
              <a:ea typeface="微软雅黑" pitchFamily="34" charset="-122"/>
            </a:endParaRPr>
          </a:p>
        </p:txBody>
      </p:sp>
      <p:pic>
        <p:nvPicPr>
          <p:cNvPr id="4" name="图片 4" descr="QQ_1742384710743"/>
          <p:cNvPicPr>
            <a:picLocks noChangeAspect="1"/>
          </p:cNvPicPr>
          <p:nvPr/>
        </p:nvPicPr>
        <p:blipFill>
          <a:blip r:embed="rId1"/>
          <a:stretch>
            <a:fillRect/>
          </a:stretch>
        </p:blipFill>
        <p:spPr>
          <a:xfrm>
            <a:off x="1823403" y="1309053"/>
            <a:ext cx="5264785" cy="29013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10"/>
          <p:cNvSpPr txBox="1"/>
          <p:nvPr/>
        </p:nvSpPr>
        <p:spPr>
          <a:xfrm>
            <a:off x="809625" y="1969135"/>
            <a:ext cx="4803140" cy="1137285"/>
          </a:xfrm>
          <a:prstGeom prst="rect">
            <a:avLst/>
          </a:prstGeom>
          <a:noFill/>
        </p:spPr>
        <p:txBody>
          <a:bodyPr wrap="square" rtlCol="0">
            <a:spAutoFit/>
          </a:bodyPr>
          <a:lstStyle/>
          <a:p>
            <a:r>
              <a:rPr lang="zh-CN" altLang="en-US" sz="3600" dirty="0" smtClean="0">
                <a:solidFill>
                  <a:srgbClr val="33495E"/>
                </a:solidFill>
                <a:latin typeface="微软雅黑" pitchFamily="34" charset="-122"/>
                <a:ea typeface="微软雅黑" pitchFamily="34" charset="-122"/>
                <a:sym typeface="+mn-ea"/>
              </a:rPr>
              <a:t>理论基础与实验设计</a:t>
            </a:r>
            <a:endParaRPr lang="en-US" altLang="zh-CN" sz="3600" dirty="0" smtClean="0">
              <a:solidFill>
                <a:srgbClr val="33495E"/>
              </a:solidFill>
              <a:latin typeface="微软雅黑" pitchFamily="34" charset="-122"/>
              <a:ea typeface="微软雅黑" pitchFamily="34" charset="-122"/>
              <a:sym typeface="+mn-ea"/>
            </a:endParaRPr>
          </a:p>
          <a:p>
            <a:r>
              <a:rPr lang="en-US" altLang="zh-CN" sz="1600" dirty="0">
                <a:solidFill>
                  <a:srgbClr val="33495E"/>
                </a:solidFill>
                <a:latin typeface="微软雅黑" pitchFamily="34" charset="-122"/>
                <a:ea typeface="微软雅黑" pitchFamily="34" charset="-122"/>
                <a:sym typeface="+mn-ea"/>
              </a:rPr>
              <a:t>Theoretical Basis and Experimental Design</a:t>
            </a:r>
            <a:endParaRPr lang="en-US" altLang="zh-CN" sz="1600" dirty="0">
              <a:solidFill>
                <a:srgbClr val="33495E"/>
              </a:solidFill>
              <a:latin typeface="微软雅黑" pitchFamily="34" charset="-122"/>
              <a:ea typeface="微软雅黑" pitchFamily="34" charset="-122"/>
              <a:sym typeface="+mn-ea"/>
            </a:endParaRPr>
          </a:p>
          <a:p>
            <a:endParaRPr lang="zh-CN" altLang="en-US" sz="1600" dirty="0">
              <a:solidFill>
                <a:srgbClr val="33495E"/>
              </a:solidFill>
              <a:latin typeface="微软雅黑" pitchFamily="34" charset="-122"/>
              <a:ea typeface="微软雅黑" pitchFamily="34" charset="-122"/>
              <a:sym typeface="+mn-ea"/>
            </a:endParaRPr>
          </a:p>
        </p:txBody>
      </p:sp>
      <p:sp>
        <p:nvSpPr>
          <p:cNvPr id="6" name="文本框 11"/>
          <p:cNvSpPr txBox="1"/>
          <p:nvPr/>
        </p:nvSpPr>
        <p:spPr>
          <a:xfrm>
            <a:off x="809782" y="1267549"/>
            <a:ext cx="3251597" cy="807913"/>
          </a:xfrm>
          <a:prstGeom prst="rect">
            <a:avLst/>
          </a:prstGeom>
          <a:noFill/>
        </p:spPr>
        <p:txBody>
          <a:bodyPr wrap="square" lIns="68580" tIns="34290" rIns="68580" bIns="34290" rtlCol="0">
            <a:spAutoFit/>
          </a:bodyPr>
          <a:lstStyle/>
          <a:p>
            <a:r>
              <a:rPr lang="en-US" altLang="zh-CN" sz="4800" dirty="0" smtClean="0">
                <a:solidFill>
                  <a:srgbClr val="33495E"/>
                </a:solidFill>
                <a:latin typeface="微软雅黑" pitchFamily="34" charset="-122"/>
                <a:ea typeface="微软雅黑" pitchFamily="34" charset="-122"/>
                <a:sym typeface="+mn-ea"/>
              </a:rPr>
              <a:t>PART 02</a:t>
            </a:r>
            <a:endParaRPr lang="zh-CN" altLang="en-US" sz="4800" dirty="0">
              <a:solidFill>
                <a:srgbClr val="33495E"/>
              </a:solidFill>
              <a:latin typeface="微软雅黑" pitchFamily="34" charset="-122"/>
              <a:ea typeface="微软雅黑" pitchFamily="34" charset="-122"/>
              <a:sym typeface="+mn-ea"/>
            </a:endParaRPr>
          </a:p>
        </p:txBody>
      </p:sp>
      <p:sp>
        <p:nvSpPr>
          <p:cNvPr id="13" name="矩形 12"/>
          <p:cNvSpPr/>
          <p:nvPr/>
        </p:nvSpPr>
        <p:spPr>
          <a:xfrm>
            <a:off x="912652" y="2898478"/>
            <a:ext cx="620754" cy="28800"/>
          </a:xfrm>
          <a:prstGeom prst="rect">
            <a:avLst/>
          </a:prstGeom>
          <a:solidFill>
            <a:srgbClr val="334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rgbClr val="33495E"/>
              </a:solidFill>
            </a:endParaRPr>
          </a:p>
        </p:txBody>
      </p:sp>
      <p:sp>
        <p:nvSpPr>
          <p:cNvPr id="7" name="文本框 11"/>
          <p:cNvSpPr txBox="1"/>
          <p:nvPr/>
        </p:nvSpPr>
        <p:spPr>
          <a:xfrm>
            <a:off x="5106357" y="1027075"/>
            <a:ext cx="3251597" cy="3131627"/>
          </a:xfrm>
          <a:prstGeom prst="rect">
            <a:avLst/>
          </a:prstGeom>
          <a:noFill/>
        </p:spPr>
        <p:txBody>
          <a:bodyPr wrap="square" lIns="68580" tIns="34290" rIns="68580" bIns="34290" rtlCol="0">
            <a:spAutoFit/>
          </a:bodyPr>
          <a:lstStyle/>
          <a:p>
            <a:r>
              <a:rPr lang="en-US" altLang="zh-CN" sz="19900" i="1" dirty="0" smtClean="0">
                <a:solidFill>
                  <a:srgbClr val="DCE3E8"/>
                </a:solidFill>
                <a:latin typeface="微软雅黑" pitchFamily="34" charset="-122"/>
                <a:ea typeface="微软雅黑" pitchFamily="34" charset="-122"/>
                <a:sym typeface="+mn-ea"/>
              </a:rPr>
              <a:t>02</a:t>
            </a:r>
            <a:endParaRPr lang="zh-CN" altLang="en-US" sz="19900" i="1" dirty="0">
              <a:solidFill>
                <a:srgbClr val="DCE3E8"/>
              </a:solidFill>
              <a:latin typeface="微软雅黑" pitchFamily="34" charset="-122"/>
              <a:ea typeface="微软雅黑"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1830"/>
          <p:cNvSpPr>
            <a:spLocks noEditPoints="1"/>
          </p:cNvSpPr>
          <p:nvPr/>
        </p:nvSpPr>
        <p:spPr>
          <a:xfrm>
            <a:off x="903237" y="1711827"/>
            <a:ext cx="143351" cy="249555"/>
          </a:xfrm>
          <a:custGeom>
            <a:avLst/>
            <a:gdLst>
              <a:gd name="txL" fmla="*/ 0 w 35"/>
              <a:gd name="txT" fmla="*/ 0 h 61"/>
              <a:gd name="txR" fmla="*/ 35 w 35"/>
              <a:gd name="txB" fmla="*/ 61 h 61"/>
            </a:gdLst>
            <a:ahLst/>
            <a:cxnLst>
              <a:cxn ang="0">
                <a:pos x="11611" y="354012"/>
              </a:cxn>
              <a:cxn ang="0">
                <a:pos x="0" y="354012"/>
              </a:cxn>
              <a:cxn ang="0">
                <a:pos x="0" y="354012"/>
              </a:cxn>
              <a:cxn ang="0">
                <a:pos x="11611" y="354012"/>
              </a:cxn>
              <a:cxn ang="0">
                <a:pos x="156754" y="5803"/>
              </a:cxn>
              <a:cxn ang="0">
                <a:pos x="174171" y="34821"/>
              </a:cxn>
              <a:cxn ang="0">
                <a:pos x="203200" y="139283"/>
              </a:cxn>
              <a:cxn ang="0">
                <a:pos x="174171" y="34821"/>
              </a:cxn>
              <a:cxn ang="0">
                <a:pos x="156754" y="5803"/>
              </a:cxn>
              <a:cxn ang="0">
                <a:pos x="156754" y="5803"/>
              </a:cxn>
              <a:cxn ang="0">
                <a:pos x="156754" y="5803"/>
              </a:cxn>
              <a:cxn ang="0">
                <a:pos x="156754" y="5803"/>
              </a:cxn>
              <a:cxn ang="0">
                <a:pos x="150949" y="0"/>
              </a:cxn>
              <a:cxn ang="0">
                <a:pos x="156754" y="5803"/>
              </a:cxn>
              <a:cxn ang="0">
                <a:pos x="150949" y="0"/>
              </a:cxn>
              <a:cxn ang="0">
                <a:pos x="150949" y="0"/>
              </a:cxn>
              <a:cxn ang="0">
                <a:pos x="150949" y="0"/>
              </a:cxn>
              <a:cxn ang="0">
                <a:pos x="150949" y="0"/>
              </a:cxn>
              <a:cxn ang="0">
                <a:pos x="150949" y="0"/>
              </a:cxn>
              <a:cxn ang="0">
                <a:pos x="150949" y="0"/>
              </a:cxn>
              <a:cxn ang="0">
                <a:pos x="150949" y="0"/>
              </a:cxn>
            </a:cxnLst>
            <a:rect l="txL" t="txT" r="txR" b="txB"/>
            <a:pathLst>
              <a:path w="35" h="61">
                <a:moveTo>
                  <a:pt x="2" y="61"/>
                </a:moveTo>
                <a:cubicBezTo>
                  <a:pt x="1" y="61"/>
                  <a:pt x="0" y="61"/>
                  <a:pt x="0" y="61"/>
                </a:cubicBezTo>
                <a:cubicBezTo>
                  <a:pt x="0" y="61"/>
                  <a:pt x="0" y="61"/>
                  <a:pt x="0" y="61"/>
                </a:cubicBezTo>
                <a:cubicBezTo>
                  <a:pt x="0" y="61"/>
                  <a:pt x="1" y="61"/>
                  <a:pt x="2" y="61"/>
                </a:cubicBezTo>
                <a:moveTo>
                  <a:pt x="27" y="1"/>
                </a:moveTo>
                <a:cubicBezTo>
                  <a:pt x="28" y="3"/>
                  <a:pt x="29" y="4"/>
                  <a:pt x="30" y="6"/>
                </a:cubicBezTo>
                <a:cubicBezTo>
                  <a:pt x="34" y="12"/>
                  <a:pt x="35" y="18"/>
                  <a:pt x="35" y="24"/>
                </a:cubicBezTo>
                <a:cubicBezTo>
                  <a:pt x="35" y="18"/>
                  <a:pt x="34" y="12"/>
                  <a:pt x="30" y="6"/>
                </a:cubicBezTo>
                <a:cubicBezTo>
                  <a:pt x="29" y="4"/>
                  <a:pt x="28" y="3"/>
                  <a:pt x="27" y="1"/>
                </a:cubicBezTo>
                <a:moveTo>
                  <a:pt x="27" y="1"/>
                </a:moveTo>
                <a:cubicBezTo>
                  <a:pt x="27" y="1"/>
                  <a:pt x="27" y="1"/>
                  <a:pt x="27" y="1"/>
                </a:cubicBezTo>
                <a:cubicBezTo>
                  <a:pt x="27" y="1"/>
                  <a:pt x="27" y="1"/>
                  <a:pt x="27" y="1"/>
                </a:cubicBezTo>
                <a:moveTo>
                  <a:pt x="26" y="0"/>
                </a:moveTo>
                <a:cubicBezTo>
                  <a:pt x="27" y="1"/>
                  <a:pt x="27" y="1"/>
                  <a:pt x="27" y="1"/>
                </a:cubicBezTo>
                <a:cubicBezTo>
                  <a:pt x="27" y="1"/>
                  <a:pt x="27" y="1"/>
                  <a:pt x="26" y="0"/>
                </a:cubicBezTo>
                <a:moveTo>
                  <a:pt x="26" y="0"/>
                </a:moveTo>
                <a:cubicBezTo>
                  <a:pt x="26" y="0"/>
                  <a:pt x="26" y="0"/>
                  <a:pt x="26" y="0"/>
                </a:cubicBezTo>
                <a:cubicBezTo>
                  <a:pt x="26" y="0"/>
                  <a:pt x="26" y="0"/>
                  <a:pt x="26" y="0"/>
                </a:cubicBezTo>
                <a:moveTo>
                  <a:pt x="26" y="0"/>
                </a:moveTo>
                <a:cubicBezTo>
                  <a:pt x="26" y="0"/>
                  <a:pt x="26" y="0"/>
                  <a:pt x="26" y="0"/>
                </a:cubicBezTo>
                <a:cubicBezTo>
                  <a:pt x="26" y="0"/>
                  <a:pt x="26" y="0"/>
                  <a:pt x="26" y="0"/>
                </a:cubicBezTo>
              </a:path>
            </a:pathLst>
          </a:custGeom>
          <a:solidFill>
            <a:srgbClr val="313A42">
              <a:alpha val="100000"/>
            </a:srgbClr>
          </a:solidFill>
          <a:ln w="9525">
            <a:noFill/>
          </a:ln>
        </p:spPr>
        <p:txBody>
          <a:bodyPr lIns="68580" tIns="34290" rIns="68580" bIns="34290"/>
          <a:lstStyle/>
          <a:p>
            <a:endParaRPr lang="zh-CN" altLang="en-US"/>
          </a:p>
        </p:txBody>
      </p:sp>
      <p:sp>
        <p:nvSpPr>
          <p:cNvPr id="64" name="TextBox 1957"/>
          <p:cNvSpPr/>
          <p:nvPr/>
        </p:nvSpPr>
        <p:spPr>
          <a:xfrm>
            <a:off x="907699" y="1602521"/>
            <a:ext cx="498337" cy="377026"/>
          </a:xfrm>
          <a:prstGeom prst="rect">
            <a:avLst/>
          </a:prstGeom>
          <a:noFill/>
          <a:ln w="9525">
            <a:noFill/>
            <a:miter/>
          </a:ln>
        </p:spPr>
        <p:txBody>
          <a:bodyPr wrap="square" lIns="68580" tIns="34290" rIns="68580" bIns="34290">
            <a:spAutoFit/>
          </a:bodyPr>
          <a:lstStyle/>
          <a:p>
            <a:pPr lvl="0" algn="ctr"/>
            <a:r>
              <a:rPr lang="en-US" altLang="zh-CN" sz="2000" dirty="0" smtClean="0">
                <a:solidFill>
                  <a:schemeClr val="bg1"/>
                </a:solidFill>
                <a:latin typeface="微软雅黑" pitchFamily="34" charset="-122"/>
                <a:ea typeface="微软雅黑" pitchFamily="34" charset="-122"/>
                <a:sym typeface="Arial" panose="020B0704020202020204" pitchFamily="34" charset="0"/>
              </a:rPr>
              <a:t>01</a:t>
            </a:r>
            <a:endParaRPr lang="zh-CN" altLang="en-US" sz="2000" dirty="0">
              <a:solidFill>
                <a:schemeClr val="bg1"/>
              </a:solidFill>
              <a:latin typeface="微软雅黑" pitchFamily="34" charset="-122"/>
              <a:ea typeface="微软雅黑" pitchFamily="34" charset="-122"/>
              <a:sym typeface="Arial" panose="020B0704020202020204" pitchFamily="34" charset="0"/>
            </a:endParaRPr>
          </a:p>
        </p:txBody>
      </p:sp>
      <p:sp>
        <p:nvSpPr>
          <p:cNvPr id="67" name="矩形 66"/>
          <p:cNvSpPr/>
          <p:nvPr/>
        </p:nvSpPr>
        <p:spPr>
          <a:xfrm>
            <a:off x="7349465" y="1650096"/>
            <a:ext cx="880668" cy="769214"/>
          </a:xfrm>
          <a:prstGeom prst="rect">
            <a:avLst/>
          </a:prstGeom>
          <a:solidFill>
            <a:srgbClr val="DCE3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10"/>
          <p:cNvSpPr txBox="1"/>
          <p:nvPr/>
        </p:nvSpPr>
        <p:spPr>
          <a:xfrm>
            <a:off x="3418114" y="521123"/>
            <a:ext cx="2639776"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理论基础</a:t>
            </a:r>
            <a:endParaRPr lang="zh-CN" altLang="en-US"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Theoretical Basis </a:t>
            </a:r>
            <a:endParaRPr lang="en-US" altLang="zh-CN" sz="1000" dirty="0">
              <a:solidFill>
                <a:srgbClr val="33495E"/>
              </a:solidFill>
              <a:latin typeface="微软雅黑" pitchFamily="34" charset="-122"/>
              <a:ea typeface="微软雅黑" pitchFamily="34" charset="-122"/>
              <a:sym typeface="+mn-ea"/>
            </a:endParaRPr>
          </a:p>
        </p:txBody>
      </p:sp>
      <p:pic>
        <p:nvPicPr>
          <p:cNvPr id="8" name="图片 8" descr="QQ_1742319240374"/>
          <p:cNvPicPr>
            <a:picLocks noChangeAspect="1"/>
          </p:cNvPicPr>
          <p:nvPr/>
        </p:nvPicPr>
        <p:blipFill>
          <a:blip r:embed="rId1"/>
          <a:stretch>
            <a:fillRect/>
          </a:stretch>
        </p:blipFill>
        <p:spPr>
          <a:xfrm>
            <a:off x="3418205" y="1494155"/>
            <a:ext cx="5271770" cy="2155190"/>
          </a:xfrm>
          <a:prstGeom prst="rect">
            <a:avLst/>
          </a:prstGeom>
        </p:spPr>
      </p:pic>
      <p:sp>
        <p:nvSpPr>
          <p:cNvPr id="2" name="文本框 1"/>
          <p:cNvSpPr txBox="1"/>
          <p:nvPr/>
        </p:nvSpPr>
        <p:spPr>
          <a:xfrm>
            <a:off x="5699125" y="3743325"/>
            <a:ext cx="3048000" cy="306705"/>
          </a:xfrm>
          <a:prstGeom prst="rect">
            <a:avLst/>
          </a:prstGeom>
          <a:noFill/>
        </p:spPr>
        <p:txBody>
          <a:bodyPr wrap="square" rtlCol="0">
            <a:spAutoFit/>
          </a:bodyPr>
          <a:p>
            <a:r>
              <a:rPr lang="zh-CN" altLang="en-US" b="1"/>
              <a:t>研究模型</a:t>
            </a:r>
            <a:endParaRPr lang="zh-CN" altLang="en-US" b="1"/>
          </a:p>
        </p:txBody>
      </p:sp>
      <p:sp>
        <p:nvSpPr>
          <p:cNvPr id="3" name="文本框 2"/>
          <p:cNvSpPr txBox="1"/>
          <p:nvPr/>
        </p:nvSpPr>
        <p:spPr>
          <a:xfrm>
            <a:off x="368300" y="1409700"/>
            <a:ext cx="2999105" cy="1599565"/>
          </a:xfrm>
          <a:prstGeom prst="rect">
            <a:avLst/>
          </a:prstGeom>
          <a:noFill/>
        </p:spPr>
        <p:txBody>
          <a:bodyPr wrap="square" rtlCol="0">
            <a:spAutoFit/>
          </a:bodyPr>
          <a:p>
            <a:r>
              <a:rPr lang="en-US" altLang="zh-CN">
                <a:solidFill>
                  <a:srgbClr val="FF0000"/>
                </a:solidFill>
              </a:rPr>
              <a:t>S-O-R</a:t>
            </a:r>
            <a:r>
              <a:rPr lang="zh-CN" altLang="en-US">
                <a:solidFill>
                  <a:srgbClr val="FF0000"/>
                </a:solidFill>
              </a:rPr>
              <a:t>模型</a:t>
            </a:r>
            <a:r>
              <a:rPr lang="zh-CN" altLang="en-US"/>
              <a:t>由刺激、机体及行为反应三部分组成，其中刺激</a:t>
            </a:r>
            <a:r>
              <a:rPr lang="en-US" altLang="zh-CN"/>
              <a:t>(Stimulus)</a:t>
            </a:r>
            <a:r>
              <a:rPr lang="zh-CN" altLang="en-US"/>
              <a:t>代表外部环境因素，机体</a:t>
            </a:r>
            <a:r>
              <a:rPr lang="en-US" altLang="zh-CN"/>
              <a:t>(Organism)</a:t>
            </a:r>
            <a:r>
              <a:rPr lang="zh-CN" altLang="en-US"/>
              <a:t>作为中介变量代表个体的心理状态变化，反应</a:t>
            </a:r>
            <a:r>
              <a:rPr lang="en-US" altLang="zh-CN"/>
              <a:t>(Response)</a:t>
            </a:r>
            <a:r>
              <a:rPr lang="zh-CN" altLang="en-US"/>
              <a:t>则是代表个体态度或行为的结果变量，通常表现为为对某一事物的趋近或规避。</a:t>
            </a:r>
            <a:endParaRPr lang="zh-CN" altLang="en-US"/>
          </a:p>
        </p:txBody>
      </p:sp>
      <p:sp>
        <p:nvSpPr>
          <p:cNvPr id="4" name="文本框 3"/>
          <p:cNvSpPr txBox="1"/>
          <p:nvPr/>
        </p:nvSpPr>
        <p:spPr>
          <a:xfrm>
            <a:off x="370205" y="3312795"/>
            <a:ext cx="3048000" cy="1168400"/>
          </a:xfrm>
          <a:prstGeom prst="rect">
            <a:avLst/>
          </a:prstGeom>
          <a:noFill/>
        </p:spPr>
        <p:txBody>
          <a:bodyPr wrap="square" rtlCol="0">
            <a:spAutoFit/>
          </a:bodyPr>
          <a:p>
            <a:r>
              <a:rPr lang="zh-CN" altLang="en-US"/>
              <a:t>本研究通过将社交线索引入科研过程，将</a:t>
            </a:r>
            <a:r>
              <a:rPr lang="en-US" altLang="zh-CN"/>
              <a:t>S-O-R</a:t>
            </a:r>
            <a:r>
              <a:rPr lang="zh-CN" altLang="en-US"/>
              <a:t>模型从消费行为扩展到信息行为，并深入挖掘交互型在线社交线索，探讨在线社交线索对数据复用行为的影响。</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文本框 10"/>
          <p:cNvSpPr txBox="1"/>
          <p:nvPr/>
        </p:nvSpPr>
        <p:spPr>
          <a:xfrm>
            <a:off x="3306989" y="521123"/>
            <a:ext cx="2639776"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理论基础</a:t>
            </a:r>
            <a:endParaRPr lang="zh-CN" altLang="en-US"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Theoretical Basis </a:t>
            </a:r>
            <a:endParaRPr lang="en-US" altLang="zh-CN" sz="1000" dirty="0">
              <a:solidFill>
                <a:srgbClr val="33495E"/>
              </a:solidFill>
              <a:latin typeface="微软雅黑" pitchFamily="34" charset="-122"/>
              <a:ea typeface="微软雅黑" pitchFamily="34" charset="-122"/>
              <a:sym typeface="+mn-ea"/>
            </a:endParaRPr>
          </a:p>
        </p:txBody>
      </p:sp>
      <p:graphicFrame>
        <p:nvGraphicFramePr>
          <p:cNvPr id="-2147482623" name="对象 -2147482624"/>
          <p:cNvGraphicFramePr>
            <a:graphicFrameLocks noChangeAspect="1"/>
          </p:cNvGraphicFramePr>
          <p:nvPr/>
        </p:nvGraphicFramePr>
        <p:xfrm>
          <a:off x="406718" y="1243648"/>
          <a:ext cx="4459695" cy="2005200"/>
        </p:xfrm>
        <a:graphic>
          <a:graphicData uri="http://schemas.openxmlformats.org/presentationml/2006/ole">
            <mc:AlternateContent xmlns:mc="http://schemas.openxmlformats.org/markup-compatibility/2006">
              <mc:Choice xmlns:v="urn:schemas-microsoft-com:vml" Requires="v">
                <p:oleObj spid="_x0000_s3076" name="" r:id="rId1" imgW="4039870" imgH="1823720" progId="Visio.Drawing.15">
                  <p:embed/>
                </p:oleObj>
              </mc:Choice>
              <mc:Fallback>
                <p:oleObj name="" r:id="rId1" imgW="4039870" imgH="1823720" progId="Visio.Drawing.15">
                  <p:embed/>
                  <p:pic>
                    <p:nvPicPr>
                      <p:cNvPr id="0" name="图片 3075"/>
                      <p:cNvPicPr/>
                      <p:nvPr/>
                    </p:nvPicPr>
                    <p:blipFill>
                      <a:blip r:embed="rId2"/>
                      <a:stretch>
                        <a:fillRect/>
                      </a:stretch>
                    </p:blipFill>
                    <p:spPr>
                      <a:xfrm>
                        <a:off x="406718" y="1243648"/>
                        <a:ext cx="4459695" cy="2005200"/>
                      </a:xfrm>
                      <a:prstGeom prst="rect">
                        <a:avLst/>
                      </a:prstGeom>
                      <a:noFill/>
                      <a:ln w="38100">
                        <a:noFill/>
                        <a:miter/>
                      </a:ln>
                    </p:spPr>
                  </p:pic>
                </p:oleObj>
              </mc:Fallback>
            </mc:AlternateContent>
          </a:graphicData>
        </a:graphic>
      </p:graphicFrame>
      <p:sp>
        <p:nvSpPr>
          <p:cNvPr id="2" name="文本框 1"/>
          <p:cNvSpPr txBox="1"/>
          <p:nvPr/>
        </p:nvSpPr>
        <p:spPr>
          <a:xfrm>
            <a:off x="1818640" y="3375660"/>
            <a:ext cx="3048000" cy="306705"/>
          </a:xfrm>
          <a:prstGeom prst="rect">
            <a:avLst/>
          </a:prstGeom>
          <a:noFill/>
        </p:spPr>
        <p:txBody>
          <a:bodyPr wrap="square" rtlCol="0">
            <a:spAutoFit/>
          </a:bodyPr>
          <a:p>
            <a:r>
              <a:rPr lang="zh-CN" altLang="en-US" b="1"/>
              <a:t>研究理论模型</a:t>
            </a:r>
            <a:endParaRPr lang="zh-CN" altLang="en-US" b="1"/>
          </a:p>
        </p:txBody>
      </p:sp>
      <p:sp>
        <p:nvSpPr>
          <p:cNvPr id="4" name="文本框 3"/>
          <p:cNvSpPr txBox="1"/>
          <p:nvPr/>
        </p:nvSpPr>
        <p:spPr>
          <a:xfrm>
            <a:off x="4922520" y="1043305"/>
            <a:ext cx="3726180" cy="3096260"/>
          </a:xfrm>
          <a:prstGeom prst="rect">
            <a:avLst/>
          </a:prstGeom>
          <a:noFill/>
        </p:spPr>
        <p:txBody>
          <a:bodyPr wrap="square" rtlCol="0">
            <a:noAutofit/>
          </a:bodyPr>
          <a:p>
            <a:r>
              <a:rPr lang="zh-CN" altLang="en-US"/>
              <a:t>基于认知匹配理论，提出以下</a:t>
            </a:r>
            <a:r>
              <a:rPr lang="en-US" altLang="zh-CN"/>
              <a:t>4</a:t>
            </a:r>
            <a:r>
              <a:rPr lang="zh-CN" altLang="en-US"/>
              <a:t>个研究假设：</a:t>
            </a:r>
            <a:endParaRPr lang="zh-CN" altLang="en-US"/>
          </a:p>
          <a:p>
            <a:endParaRPr lang="zh-CN" altLang="en-US"/>
          </a:p>
          <a:p>
            <a:r>
              <a:rPr lang="en-US" altLang="zh-CN"/>
              <a:t>H1</a:t>
            </a:r>
            <a:r>
              <a:rPr lang="zh-CN" altLang="en-US"/>
              <a:t>：当</a:t>
            </a:r>
            <a:r>
              <a:rPr lang="zh-CN" altLang="en-US">
                <a:ln/>
                <a:solidFill>
                  <a:srgbClr val="FF0000"/>
                </a:solidFill>
                <a:effectLst>
                  <a:outerShdw blurRad="38100" dist="19050" dir="2700000" algn="tl" rotWithShape="0">
                    <a:schemeClr val="dk1">
                      <a:alpha val="40000"/>
                      <a:alpha val="40000"/>
                    </a:schemeClr>
                  </a:outerShdw>
                </a:effectLst>
              </a:rPr>
              <a:t>印象型数据线索</a:t>
            </a:r>
            <a:r>
              <a:rPr lang="zh-CN" altLang="en-US"/>
              <a:t>与用户有效性、可得性判据相匹配时，用户对科学数据的感知有用性高于不提供社交线索时的感知有用性。</a:t>
            </a:r>
            <a:endParaRPr lang="zh-CN" altLang="en-US"/>
          </a:p>
          <a:p>
            <a:endParaRPr lang="zh-CN" altLang="en-US"/>
          </a:p>
          <a:p>
            <a:r>
              <a:rPr lang="en-US" altLang="zh-CN"/>
              <a:t>H2</a:t>
            </a:r>
            <a:r>
              <a:rPr lang="zh-CN" altLang="en-US"/>
              <a:t>：当</a:t>
            </a:r>
            <a:r>
              <a:rPr lang="zh-CN" altLang="en-US">
                <a:ln/>
                <a:solidFill>
                  <a:srgbClr val="FF0000"/>
                </a:solidFill>
                <a:effectLst>
                  <a:outerShdw blurRad="38100" dist="19050" dir="2700000" algn="tl" rotWithShape="0">
                    <a:schemeClr val="dk1">
                      <a:alpha val="40000"/>
                      <a:alpha val="40000"/>
                    </a:schemeClr>
                  </a:outerShdw>
                </a:effectLst>
              </a:rPr>
              <a:t>交互型数据线索</a:t>
            </a:r>
            <a:r>
              <a:rPr lang="zh-CN" altLang="en-US"/>
              <a:t>与用户适用性、相关性判据相匹配时，用户对科学数据的感知有用性高于不提供社交线索时的感知有用性。</a:t>
            </a:r>
            <a:endParaRPr lang="zh-CN" altLang="en-US"/>
          </a:p>
          <a:p>
            <a:endParaRPr lang="zh-CN" altLang="en-US"/>
          </a:p>
          <a:p>
            <a:r>
              <a:rPr lang="en-US" altLang="zh-CN"/>
              <a:t>H3: </a:t>
            </a:r>
            <a:r>
              <a:rPr lang="zh-CN" altLang="en-US"/>
              <a:t>当</a:t>
            </a:r>
            <a:r>
              <a:rPr lang="zh-CN" altLang="en-US">
                <a:ln/>
                <a:solidFill>
                  <a:srgbClr val="FF0000"/>
                </a:solidFill>
                <a:effectLst>
                  <a:outerShdw blurRad="38100" dist="19050" dir="2700000" algn="tl" rotWithShape="0">
                    <a:schemeClr val="dk1">
                      <a:alpha val="40000"/>
                      <a:alpha val="40000"/>
                    </a:schemeClr>
                  </a:outerShdw>
                </a:effectLst>
              </a:rPr>
              <a:t>印象型发布者线索</a:t>
            </a:r>
            <a:r>
              <a:rPr lang="zh-CN" altLang="en-US"/>
              <a:t>与用户来源可靠性判据相匹配时，用户对科学数据的感知有用性高于不提供社交线索时的感知有用性。</a:t>
            </a:r>
            <a:endParaRPr lang="zh-CN" altLang="en-US"/>
          </a:p>
          <a:p>
            <a:endParaRPr lang="zh-CN" altLang="en-US"/>
          </a:p>
          <a:p>
            <a:r>
              <a:rPr lang="en-US" altLang="zh-CN"/>
              <a:t>H4: </a:t>
            </a:r>
            <a:r>
              <a:rPr lang="zh-CN" altLang="en-US"/>
              <a:t>线索类型与可复用性判据对数据复用绩效的影响是在匹配条件下由</a:t>
            </a:r>
            <a:r>
              <a:rPr lang="zh-CN" altLang="en-US">
                <a:ln/>
                <a:solidFill>
                  <a:srgbClr val="FF0000"/>
                </a:solidFill>
                <a:effectLst>
                  <a:outerShdw blurRad="38100" dist="19050" dir="2700000" algn="tl" rotWithShape="0">
                    <a:schemeClr val="dk1">
                      <a:alpha val="40000"/>
                      <a:alpha val="40000"/>
                    </a:schemeClr>
                  </a:outerShdw>
                </a:effectLst>
              </a:rPr>
              <a:t>感知有用性</a:t>
            </a:r>
            <a:r>
              <a:rPr lang="zh-CN" altLang="en-US">
                <a:highlight>
                  <a:srgbClr val="FFFF00"/>
                </a:highlight>
              </a:rPr>
              <a:t>介导</a:t>
            </a:r>
            <a:r>
              <a:rPr lang="zh-CN" altLang="en-US"/>
              <a:t>的。</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0"/>
          <p:cNvSpPr txBox="1"/>
          <p:nvPr/>
        </p:nvSpPr>
        <p:spPr>
          <a:xfrm>
            <a:off x="3194594" y="469688"/>
            <a:ext cx="2639776"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实验设计</a:t>
            </a:r>
            <a:endParaRPr lang="zh-CN" altLang="en-US"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 Experimental Design</a:t>
            </a:r>
            <a:endParaRPr lang="en-US" altLang="zh-CN" sz="1000" dirty="0">
              <a:solidFill>
                <a:srgbClr val="33495E"/>
              </a:solidFill>
              <a:latin typeface="微软雅黑" pitchFamily="34" charset="-122"/>
              <a:ea typeface="微软雅黑" pitchFamily="34" charset="-122"/>
              <a:sym typeface="+mn-ea"/>
            </a:endParaRPr>
          </a:p>
        </p:txBody>
      </p:sp>
      <p:pic>
        <p:nvPicPr>
          <p:cNvPr id="7"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454025" y="991553"/>
            <a:ext cx="5274310" cy="3439795"/>
          </a:xfrm>
          <a:prstGeom prst="rect">
            <a:avLst/>
          </a:prstGeom>
          <a:noFill/>
          <a:ln>
            <a:noFill/>
          </a:ln>
        </p:spPr>
      </p:pic>
      <p:sp>
        <p:nvSpPr>
          <p:cNvPr id="9" name="文本框 8"/>
          <p:cNvSpPr txBox="1"/>
          <p:nvPr/>
        </p:nvSpPr>
        <p:spPr>
          <a:xfrm>
            <a:off x="5728335" y="1503680"/>
            <a:ext cx="3048000" cy="2245360"/>
          </a:xfrm>
          <a:prstGeom prst="rect">
            <a:avLst/>
          </a:prstGeom>
          <a:noFill/>
        </p:spPr>
        <p:txBody>
          <a:bodyPr wrap="square" rtlCol="0">
            <a:spAutoFit/>
          </a:bodyPr>
          <a:p>
            <a:r>
              <a:rPr lang="zh-CN" altLang="en-US"/>
              <a:t>选取数据平台</a:t>
            </a:r>
            <a:r>
              <a:rPr lang="en-US" altLang="zh-CN"/>
              <a:t>：</a:t>
            </a:r>
            <a:r>
              <a:rPr lang="zh-CN" altLang="en-US">
                <a:sym typeface="+mn-ea"/>
              </a:rPr>
              <a:t>贵州省政府数据开放平台</a:t>
            </a:r>
            <a:endParaRPr lang="zh-CN" altLang="en-US">
              <a:sym typeface="+mn-ea"/>
            </a:endParaRPr>
          </a:p>
          <a:p>
            <a:endParaRPr lang="en-US" altLang="zh-CN"/>
          </a:p>
          <a:p>
            <a:r>
              <a:rPr lang="zh-CN" altLang="en-US"/>
              <a:t>三组实验条件：仅评分</a:t>
            </a:r>
            <a:r>
              <a:rPr lang="en-US" altLang="zh-CN"/>
              <a:t>/</a:t>
            </a:r>
            <a:r>
              <a:rPr lang="zh-CN" altLang="en-US"/>
              <a:t>仅评论</a:t>
            </a:r>
            <a:r>
              <a:rPr lang="en-US" altLang="zh-CN"/>
              <a:t>/</a:t>
            </a:r>
            <a:r>
              <a:rPr lang="zh-CN" altLang="en-US"/>
              <a:t>仅身份信息</a:t>
            </a:r>
            <a:endParaRPr lang="en-US" altLang="zh-CN"/>
          </a:p>
          <a:p>
            <a:endParaRPr lang="zh-CN" altLang="en-US"/>
          </a:p>
          <a:p>
            <a:endParaRPr lang="en-US" altLang="zh-CN"/>
          </a:p>
          <a:p>
            <a:r>
              <a:rPr lang="zh-CN" altLang="en-US"/>
              <a:t>实验流程：介绍实验内容</a:t>
            </a:r>
            <a:r>
              <a:rPr lang="en-US" altLang="zh-CN"/>
              <a:t>-</a:t>
            </a:r>
            <a:r>
              <a:rPr lang="zh-CN" altLang="en-US"/>
              <a:t>资格审查</a:t>
            </a:r>
            <a:r>
              <a:rPr lang="en-US" altLang="zh-CN"/>
              <a:t>-</a:t>
            </a:r>
            <a:r>
              <a:rPr lang="zh-CN" altLang="en-US"/>
              <a:t>模拟社会科学数据复用实验</a:t>
            </a:r>
            <a:r>
              <a:rPr lang="en-US" altLang="zh-CN"/>
              <a:t>-</a:t>
            </a:r>
            <a:r>
              <a:rPr lang="zh-CN" altLang="en-US"/>
              <a:t>实验后问卷。</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0"/>
          <p:cNvSpPr txBox="1"/>
          <p:nvPr/>
        </p:nvSpPr>
        <p:spPr>
          <a:xfrm>
            <a:off x="3194594" y="469688"/>
            <a:ext cx="2639776"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实验设计</a:t>
            </a:r>
            <a:endParaRPr lang="zh-CN" altLang="en-US"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 Experimental Design</a:t>
            </a:r>
            <a:endParaRPr lang="en-US" altLang="zh-CN" sz="1000" dirty="0">
              <a:solidFill>
                <a:srgbClr val="33495E"/>
              </a:solidFill>
              <a:latin typeface="微软雅黑" pitchFamily="34" charset="-122"/>
              <a:ea typeface="微软雅黑" pitchFamily="34" charset="-122"/>
              <a:sym typeface="+mn-ea"/>
            </a:endParaRPr>
          </a:p>
        </p:txBody>
      </p:sp>
      <p:sp>
        <p:nvSpPr>
          <p:cNvPr id="137" name="任意多边形 136"/>
          <p:cNvSpPr/>
          <p:nvPr>
            <p:custDataLst>
              <p:tags r:id="rId1"/>
            </p:custDataLst>
          </p:nvPr>
        </p:nvSpPr>
        <p:spPr>
          <a:xfrm flipH="1">
            <a:off x="517" y="631792"/>
            <a:ext cx="4321132" cy="1899353"/>
          </a:xfrm>
          <a:custGeom>
            <a:avLst/>
            <a:gdLst>
              <a:gd name="adj" fmla="val 15604"/>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354" h="3672">
                <a:moveTo>
                  <a:pt x="1171" y="0"/>
                </a:moveTo>
                <a:lnTo>
                  <a:pt x="7183" y="0"/>
                </a:lnTo>
                <a:cubicBezTo>
                  <a:pt x="7830" y="0"/>
                  <a:pt x="8354" y="524"/>
                  <a:pt x="8354" y="1171"/>
                </a:cubicBezTo>
                <a:lnTo>
                  <a:pt x="8354" y="3672"/>
                </a:lnTo>
                <a:lnTo>
                  <a:pt x="1934" y="3672"/>
                </a:lnTo>
                <a:lnTo>
                  <a:pt x="1934" y="3650"/>
                </a:lnTo>
                <a:cubicBezTo>
                  <a:pt x="1884" y="2534"/>
                  <a:pt x="1073" y="1615"/>
                  <a:pt x="5" y="1397"/>
                </a:cubicBezTo>
                <a:lnTo>
                  <a:pt x="0" y="1396"/>
                </a:lnTo>
                <a:lnTo>
                  <a:pt x="0" y="1171"/>
                </a:lnTo>
                <a:cubicBezTo>
                  <a:pt x="0" y="524"/>
                  <a:pt x="524" y="0"/>
                  <a:pt x="1171" y="0"/>
                </a:cubicBezTo>
                <a:close/>
              </a:path>
            </a:pathLst>
          </a:custGeom>
          <a:gradFill>
            <a:gsLst>
              <a:gs pos="0">
                <a:schemeClr val="accent1">
                  <a:alpha val="10000"/>
                </a:schemeClr>
              </a:gs>
              <a:gs pos="100000">
                <a:schemeClr val="lt1">
                  <a:alpha val="0"/>
                </a:schemeClr>
              </a:gs>
            </a:gsLst>
            <a:lin ang="0" scaled="0"/>
          </a:gradFill>
          <a:ln w="12700">
            <a:gradFill>
              <a:gsLst>
                <a:gs pos="0">
                  <a:schemeClr val="bg1">
                    <a:alpha val="0"/>
                  </a:schemeClr>
                </a:gs>
                <a:gs pos="100000">
                  <a:schemeClr val="accent1">
                    <a:alpha val="50000"/>
                  </a:schemeClr>
                </a:gs>
              </a:gsLst>
              <a:lin ang="10800000" scaled="1"/>
            </a:grad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73449" rIns="1436929" numCol="1" spcCol="0" rtlCol="0" fromWordArt="0" anchor="ctr" anchorCtr="1" forceAA="0" compatLnSpc="1">
            <a:noAutofit/>
          </a:bodyPr>
          <a:p>
            <a:pPr lvl="0" algn="r">
              <a:lnSpc>
                <a:spcPct val="150000"/>
              </a:lnSpc>
              <a:buClrTx/>
              <a:buSzTx/>
              <a:buFontTx/>
            </a:pPr>
            <a:r>
              <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rPr>
              <a:t>眼动数据</a:t>
            </a:r>
            <a:endPar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endParaRPr>
          </a:p>
          <a:p>
            <a:pPr lvl="0" algn="r">
              <a:lnSpc>
                <a:spcPct val="150000"/>
              </a:lnSpc>
              <a:buClrTx/>
              <a:buSzTx/>
              <a:buFontTx/>
            </a:pPr>
            <a:endPar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endParaRPr>
          </a:p>
          <a:p>
            <a:pPr lvl="0" algn="r">
              <a:lnSpc>
                <a:spcPct val="150000"/>
              </a:lnSpc>
              <a:buClrTx/>
              <a:buSzTx/>
              <a:buFontTx/>
            </a:pPr>
            <a:endPar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endParaRPr>
          </a:p>
        </p:txBody>
      </p:sp>
      <p:sp>
        <p:nvSpPr>
          <p:cNvPr id="138" name="对象11"/>
          <p:cNvSpPr/>
          <p:nvPr>
            <p:custDataLst>
              <p:tags r:id="rId2"/>
            </p:custDataLst>
          </p:nvPr>
        </p:nvSpPr>
        <p:spPr>
          <a:xfrm>
            <a:off x="3877846" y="1875786"/>
            <a:ext cx="1392859" cy="1392859"/>
          </a:xfrm>
          <a:custGeom>
            <a:avLst/>
            <a:gdLst/>
            <a:ahLst/>
            <a:cxnLst/>
            <a:rect l="l" t="t" r="r" b="b"/>
            <a:pathLst>
              <a:path w="1709928" h="1709928">
                <a:moveTo>
                  <a:pt x="822960" y="0"/>
                </a:moveTo>
                <a:cubicBezTo>
                  <a:pt x="832104" y="0"/>
                  <a:pt x="841248" y="0"/>
                  <a:pt x="859536" y="0"/>
                </a:cubicBezTo>
                <a:cubicBezTo>
                  <a:pt x="868680" y="0"/>
                  <a:pt x="877824" y="0"/>
                  <a:pt x="886968" y="0"/>
                </a:cubicBezTo>
                <a:lnTo>
                  <a:pt x="886968" y="9144"/>
                </a:lnTo>
                <a:cubicBezTo>
                  <a:pt x="877824" y="9144"/>
                  <a:pt x="868680" y="9144"/>
                  <a:pt x="859536" y="9144"/>
                </a:cubicBezTo>
                <a:cubicBezTo>
                  <a:pt x="841248" y="9144"/>
                  <a:pt x="832104" y="9144"/>
                  <a:pt x="822960" y="9144"/>
                </a:cubicBezTo>
                <a:lnTo>
                  <a:pt x="822960" y="0"/>
                </a:lnTo>
                <a:moveTo>
                  <a:pt x="685800" y="18288"/>
                </a:moveTo>
                <a:cubicBezTo>
                  <a:pt x="713232" y="9144"/>
                  <a:pt x="731520" y="9144"/>
                  <a:pt x="758952" y="9144"/>
                </a:cubicBezTo>
                <a:lnTo>
                  <a:pt x="758952" y="18288"/>
                </a:lnTo>
                <a:cubicBezTo>
                  <a:pt x="731520" y="18288"/>
                  <a:pt x="713232" y="27432"/>
                  <a:pt x="694944" y="27432"/>
                </a:cubicBezTo>
                <a:lnTo>
                  <a:pt x="685800" y="18288"/>
                </a:lnTo>
                <a:moveTo>
                  <a:pt x="960120" y="9144"/>
                </a:moveTo>
                <a:cubicBezTo>
                  <a:pt x="978408" y="9144"/>
                  <a:pt x="1005840" y="9144"/>
                  <a:pt x="1024128" y="18288"/>
                </a:cubicBezTo>
                <a:lnTo>
                  <a:pt x="1024128" y="27432"/>
                </a:lnTo>
                <a:cubicBezTo>
                  <a:pt x="996696" y="27432"/>
                  <a:pt x="978408" y="18288"/>
                  <a:pt x="960120" y="18288"/>
                </a:cubicBezTo>
                <a:lnTo>
                  <a:pt x="960120" y="9144"/>
                </a:lnTo>
                <a:moveTo>
                  <a:pt x="557784" y="54864"/>
                </a:moveTo>
                <a:cubicBezTo>
                  <a:pt x="585216" y="45720"/>
                  <a:pt x="603504" y="36576"/>
                  <a:pt x="621792" y="27432"/>
                </a:cubicBezTo>
                <a:lnTo>
                  <a:pt x="630936" y="45720"/>
                </a:lnTo>
                <a:cubicBezTo>
                  <a:pt x="603504" y="45720"/>
                  <a:pt x="585216" y="54864"/>
                  <a:pt x="566928" y="64008"/>
                </a:cubicBezTo>
                <a:lnTo>
                  <a:pt x="557784" y="54864"/>
                </a:lnTo>
                <a:moveTo>
                  <a:pt x="1088136" y="27432"/>
                </a:moveTo>
                <a:cubicBezTo>
                  <a:pt x="1106424" y="36576"/>
                  <a:pt x="1133856" y="45720"/>
                  <a:pt x="1152144" y="54864"/>
                </a:cubicBezTo>
                <a:lnTo>
                  <a:pt x="1152144" y="64008"/>
                </a:lnTo>
                <a:cubicBezTo>
                  <a:pt x="1124712" y="54864"/>
                  <a:pt x="1106424" y="45720"/>
                  <a:pt x="1088136" y="45720"/>
                </a:cubicBezTo>
                <a:lnTo>
                  <a:pt x="1088136" y="27432"/>
                </a:lnTo>
                <a:moveTo>
                  <a:pt x="1216152" y="82296"/>
                </a:moveTo>
                <a:cubicBezTo>
                  <a:pt x="1234440" y="91440"/>
                  <a:pt x="1252728" y="100584"/>
                  <a:pt x="1271016" y="109728"/>
                </a:cubicBezTo>
                <a:lnTo>
                  <a:pt x="1271016" y="118872"/>
                </a:lnTo>
                <a:cubicBezTo>
                  <a:pt x="1252728" y="109728"/>
                  <a:pt x="1234440" y="100584"/>
                  <a:pt x="1207008" y="91440"/>
                </a:cubicBezTo>
                <a:lnTo>
                  <a:pt x="1216152" y="82296"/>
                </a:lnTo>
                <a:moveTo>
                  <a:pt x="438912" y="109728"/>
                </a:moveTo>
                <a:cubicBezTo>
                  <a:pt x="457200" y="100584"/>
                  <a:pt x="475488" y="91440"/>
                  <a:pt x="493776" y="82296"/>
                </a:cubicBezTo>
                <a:lnTo>
                  <a:pt x="502920" y="91440"/>
                </a:lnTo>
                <a:cubicBezTo>
                  <a:pt x="484632" y="100584"/>
                  <a:pt x="466344" y="109728"/>
                  <a:pt x="448056" y="118872"/>
                </a:cubicBezTo>
                <a:lnTo>
                  <a:pt x="438912" y="109728"/>
                </a:lnTo>
                <a:moveTo>
                  <a:pt x="1335024" y="146304"/>
                </a:moveTo>
                <a:cubicBezTo>
                  <a:pt x="1353312" y="155448"/>
                  <a:pt x="1371600" y="173736"/>
                  <a:pt x="1389888" y="182880"/>
                </a:cubicBezTo>
                <a:lnTo>
                  <a:pt x="1380744" y="192024"/>
                </a:lnTo>
                <a:cubicBezTo>
                  <a:pt x="1362456" y="182880"/>
                  <a:pt x="1344168" y="164592"/>
                  <a:pt x="1325880" y="155448"/>
                </a:cubicBezTo>
                <a:lnTo>
                  <a:pt x="1335024" y="146304"/>
                </a:lnTo>
                <a:moveTo>
                  <a:pt x="329184" y="182880"/>
                </a:moveTo>
                <a:cubicBezTo>
                  <a:pt x="347472" y="173736"/>
                  <a:pt x="365760" y="155448"/>
                  <a:pt x="384048" y="146304"/>
                </a:cubicBezTo>
                <a:lnTo>
                  <a:pt x="384048" y="155448"/>
                </a:lnTo>
                <a:cubicBezTo>
                  <a:pt x="365760" y="164592"/>
                  <a:pt x="347472" y="182880"/>
                  <a:pt x="329184" y="192024"/>
                </a:cubicBezTo>
                <a:lnTo>
                  <a:pt x="329184" y="182880"/>
                </a:lnTo>
                <a:moveTo>
                  <a:pt x="1435608" y="228600"/>
                </a:moveTo>
                <a:cubicBezTo>
                  <a:pt x="1453896" y="246888"/>
                  <a:pt x="1472184" y="256032"/>
                  <a:pt x="1481328" y="274320"/>
                </a:cubicBezTo>
                <a:lnTo>
                  <a:pt x="1481328" y="283464"/>
                </a:lnTo>
                <a:cubicBezTo>
                  <a:pt x="1463040" y="265176"/>
                  <a:pt x="1444752" y="246888"/>
                  <a:pt x="1426464" y="237744"/>
                </a:cubicBezTo>
                <a:lnTo>
                  <a:pt x="1435608" y="228600"/>
                </a:lnTo>
                <a:moveTo>
                  <a:pt x="228600" y="274320"/>
                </a:moveTo>
                <a:cubicBezTo>
                  <a:pt x="246888" y="256032"/>
                  <a:pt x="256032" y="246888"/>
                  <a:pt x="274320" y="228600"/>
                </a:cubicBezTo>
                <a:lnTo>
                  <a:pt x="283464" y="237744"/>
                </a:lnTo>
                <a:cubicBezTo>
                  <a:pt x="265176" y="246888"/>
                  <a:pt x="246888" y="265176"/>
                  <a:pt x="237744" y="283464"/>
                </a:cubicBezTo>
                <a:lnTo>
                  <a:pt x="228600" y="274320"/>
                </a:lnTo>
                <a:moveTo>
                  <a:pt x="1527048" y="329184"/>
                </a:moveTo>
                <a:cubicBezTo>
                  <a:pt x="1545336" y="347472"/>
                  <a:pt x="1554480" y="365760"/>
                  <a:pt x="1572768" y="384048"/>
                </a:cubicBezTo>
                <a:lnTo>
                  <a:pt x="1563624" y="384048"/>
                </a:lnTo>
                <a:cubicBezTo>
                  <a:pt x="1545336" y="365760"/>
                  <a:pt x="1536192" y="347472"/>
                  <a:pt x="1517904" y="329184"/>
                </a:cubicBezTo>
                <a:lnTo>
                  <a:pt x="1527048" y="329184"/>
                </a:lnTo>
                <a:moveTo>
                  <a:pt x="146304" y="384048"/>
                </a:moveTo>
                <a:cubicBezTo>
                  <a:pt x="155448" y="365760"/>
                  <a:pt x="173736" y="347472"/>
                  <a:pt x="182880" y="329184"/>
                </a:cubicBezTo>
                <a:lnTo>
                  <a:pt x="192024" y="329184"/>
                </a:lnTo>
                <a:cubicBezTo>
                  <a:pt x="182880" y="347472"/>
                  <a:pt x="164592" y="365760"/>
                  <a:pt x="155448" y="384048"/>
                </a:cubicBezTo>
                <a:lnTo>
                  <a:pt x="146304" y="384048"/>
                </a:lnTo>
                <a:moveTo>
                  <a:pt x="1600200" y="438912"/>
                </a:moveTo>
                <a:cubicBezTo>
                  <a:pt x="1618488" y="457200"/>
                  <a:pt x="1627632" y="475488"/>
                  <a:pt x="1636776" y="493776"/>
                </a:cubicBezTo>
                <a:lnTo>
                  <a:pt x="1627632" y="502920"/>
                </a:lnTo>
                <a:cubicBezTo>
                  <a:pt x="1618488" y="484632"/>
                  <a:pt x="1609344" y="466344"/>
                  <a:pt x="1591056" y="438912"/>
                </a:cubicBezTo>
                <a:lnTo>
                  <a:pt x="1600200" y="438912"/>
                </a:lnTo>
                <a:moveTo>
                  <a:pt x="82296" y="493776"/>
                </a:moveTo>
                <a:cubicBezTo>
                  <a:pt x="91440" y="475488"/>
                  <a:pt x="100584" y="457200"/>
                  <a:pt x="109728" y="438912"/>
                </a:cubicBezTo>
                <a:lnTo>
                  <a:pt x="118872" y="438912"/>
                </a:lnTo>
                <a:cubicBezTo>
                  <a:pt x="109728" y="466344"/>
                  <a:pt x="100584" y="484632"/>
                  <a:pt x="91440" y="502920"/>
                </a:cubicBezTo>
                <a:lnTo>
                  <a:pt x="82296" y="493776"/>
                </a:lnTo>
                <a:moveTo>
                  <a:pt x="1664208" y="557784"/>
                </a:moveTo>
                <a:cubicBezTo>
                  <a:pt x="1664208" y="576072"/>
                  <a:pt x="1673352" y="603504"/>
                  <a:pt x="1682496" y="621792"/>
                </a:cubicBezTo>
                <a:lnTo>
                  <a:pt x="1673352" y="621792"/>
                </a:lnTo>
                <a:cubicBezTo>
                  <a:pt x="1664208" y="603504"/>
                  <a:pt x="1655064" y="585216"/>
                  <a:pt x="1645920" y="566928"/>
                </a:cubicBezTo>
                <a:lnTo>
                  <a:pt x="1664208" y="557784"/>
                </a:lnTo>
                <a:moveTo>
                  <a:pt x="27432" y="621792"/>
                </a:moveTo>
                <a:cubicBezTo>
                  <a:pt x="36576" y="603504"/>
                  <a:pt x="45720" y="576072"/>
                  <a:pt x="54864" y="557784"/>
                </a:cubicBezTo>
                <a:lnTo>
                  <a:pt x="64008" y="566928"/>
                </a:lnTo>
                <a:cubicBezTo>
                  <a:pt x="54864" y="585216"/>
                  <a:pt x="45720" y="603504"/>
                  <a:pt x="45720" y="621792"/>
                </a:cubicBezTo>
                <a:lnTo>
                  <a:pt x="27432" y="621792"/>
                </a:lnTo>
                <a:moveTo>
                  <a:pt x="1700784" y="685800"/>
                </a:moveTo>
                <a:cubicBezTo>
                  <a:pt x="1700784" y="713232"/>
                  <a:pt x="1700784" y="731520"/>
                  <a:pt x="1709928" y="758952"/>
                </a:cubicBezTo>
                <a:lnTo>
                  <a:pt x="1691640" y="758952"/>
                </a:lnTo>
                <a:cubicBezTo>
                  <a:pt x="1691640" y="731520"/>
                  <a:pt x="1691640" y="713232"/>
                  <a:pt x="1682496" y="694944"/>
                </a:cubicBezTo>
                <a:lnTo>
                  <a:pt x="1700784" y="685800"/>
                </a:lnTo>
                <a:moveTo>
                  <a:pt x="9144" y="758952"/>
                </a:moveTo>
                <a:cubicBezTo>
                  <a:pt x="9144" y="731520"/>
                  <a:pt x="9144" y="713232"/>
                  <a:pt x="18288" y="685800"/>
                </a:cubicBezTo>
                <a:lnTo>
                  <a:pt x="27432" y="694944"/>
                </a:lnTo>
                <a:cubicBezTo>
                  <a:pt x="27432" y="713232"/>
                  <a:pt x="18288" y="731520"/>
                  <a:pt x="18288" y="758952"/>
                </a:cubicBezTo>
                <a:lnTo>
                  <a:pt x="9144" y="758952"/>
                </a:lnTo>
                <a:moveTo>
                  <a:pt x="1709928" y="822960"/>
                </a:moveTo>
                <a:cubicBezTo>
                  <a:pt x="1709928" y="832104"/>
                  <a:pt x="1709928" y="841248"/>
                  <a:pt x="1709928" y="859536"/>
                </a:cubicBezTo>
                <a:cubicBezTo>
                  <a:pt x="1709928" y="868680"/>
                  <a:pt x="1709928" y="877824"/>
                  <a:pt x="1709928" y="886968"/>
                </a:cubicBezTo>
                <a:lnTo>
                  <a:pt x="1700784" y="886968"/>
                </a:lnTo>
                <a:cubicBezTo>
                  <a:pt x="1700784" y="877824"/>
                  <a:pt x="1700784" y="868680"/>
                  <a:pt x="1700784" y="859536"/>
                </a:cubicBezTo>
                <a:cubicBezTo>
                  <a:pt x="1700784" y="841248"/>
                  <a:pt x="1700784" y="832104"/>
                  <a:pt x="1700784" y="822960"/>
                </a:cubicBezTo>
                <a:lnTo>
                  <a:pt x="1709928" y="822960"/>
                </a:lnTo>
                <a:moveTo>
                  <a:pt x="0" y="859536"/>
                </a:moveTo>
                <a:cubicBezTo>
                  <a:pt x="0" y="841248"/>
                  <a:pt x="0" y="832104"/>
                  <a:pt x="0" y="822960"/>
                </a:cubicBezTo>
                <a:lnTo>
                  <a:pt x="9144" y="822960"/>
                </a:lnTo>
                <a:cubicBezTo>
                  <a:pt x="9144" y="832104"/>
                  <a:pt x="9144" y="841248"/>
                  <a:pt x="9144" y="859536"/>
                </a:cubicBezTo>
                <a:cubicBezTo>
                  <a:pt x="9144" y="868680"/>
                  <a:pt x="9144" y="877824"/>
                  <a:pt x="9144" y="886968"/>
                </a:cubicBezTo>
                <a:lnTo>
                  <a:pt x="0" y="886968"/>
                </a:lnTo>
                <a:cubicBezTo>
                  <a:pt x="0" y="877824"/>
                  <a:pt x="0" y="868680"/>
                  <a:pt x="0" y="859536"/>
                </a:cubicBezTo>
                <a:moveTo>
                  <a:pt x="1709928" y="960120"/>
                </a:moveTo>
                <a:cubicBezTo>
                  <a:pt x="1700784" y="978408"/>
                  <a:pt x="1700784" y="996696"/>
                  <a:pt x="1700784" y="1024128"/>
                </a:cubicBezTo>
                <a:lnTo>
                  <a:pt x="1682496" y="1024128"/>
                </a:lnTo>
                <a:cubicBezTo>
                  <a:pt x="1691640" y="996696"/>
                  <a:pt x="1691640" y="978408"/>
                  <a:pt x="1691640" y="950976"/>
                </a:cubicBezTo>
                <a:lnTo>
                  <a:pt x="1709928" y="960120"/>
                </a:lnTo>
                <a:moveTo>
                  <a:pt x="18288" y="1024128"/>
                </a:moveTo>
                <a:cubicBezTo>
                  <a:pt x="9144" y="996696"/>
                  <a:pt x="9144" y="978408"/>
                  <a:pt x="9144" y="960120"/>
                </a:cubicBezTo>
                <a:lnTo>
                  <a:pt x="18288" y="950976"/>
                </a:lnTo>
                <a:cubicBezTo>
                  <a:pt x="18288" y="978408"/>
                  <a:pt x="27432" y="996696"/>
                  <a:pt x="27432" y="1024128"/>
                </a:cubicBezTo>
                <a:lnTo>
                  <a:pt x="18288" y="1024128"/>
                </a:lnTo>
                <a:moveTo>
                  <a:pt x="1682496" y="1088136"/>
                </a:moveTo>
                <a:cubicBezTo>
                  <a:pt x="1673352" y="1106424"/>
                  <a:pt x="1664208" y="1133856"/>
                  <a:pt x="1664208" y="1152144"/>
                </a:cubicBezTo>
                <a:lnTo>
                  <a:pt x="1645920" y="1152144"/>
                </a:lnTo>
                <a:cubicBezTo>
                  <a:pt x="1655064" y="1124712"/>
                  <a:pt x="1664208" y="1106424"/>
                  <a:pt x="1673352" y="1088136"/>
                </a:cubicBezTo>
                <a:lnTo>
                  <a:pt x="1682496" y="1088136"/>
                </a:lnTo>
                <a:moveTo>
                  <a:pt x="54864" y="1152144"/>
                </a:moveTo>
                <a:cubicBezTo>
                  <a:pt x="45720" y="1133856"/>
                  <a:pt x="36576" y="1106424"/>
                  <a:pt x="27432" y="1088136"/>
                </a:cubicBezTo>
                <a:lnTo>
                  <a:pt x="45720" y="1088136"/>
                </a:lnTo>
                <a:cubicBezTo>
                  <a:pt x="45720" y="1106424"/>
                  <a:pt x="54864" y="1124712"/>
                  <a:pt x="64008" y="1152144"/>
                </a:cubicBezTo>
                <a:lnTo>
                  <a:pt x="54864" y="1152144"/>
                </a:lnTo>
                <a:moveTo>
                  <a:pt x="1636776" y="1216152"/>
                </a:moveTo>
                <a:cubicBezTo>
                  <a:pt x="1627632" y="1234440"/>
                  <a:pt x="1618488" y="1252728"/>
                  <a:pt x="1600200" y="1271016"/>
                </a:cubicBezTo>
                <a:lnTo>
                  <a:pt x="1591056" y="1271016"/>
                </a:lnTo>
                <a:cubicBezTo>
                  <a:pt x="1609344" y="1252728"/>
                  <a:pt x="1618488" y="1225296"/>
                  <a:pt x="1627632" y="1207008"/>
                </a:cubicBezTo>
                <a:lnTo>
                  <a:pt x="1636776" y="1216152"/>
                </a:lnTo>
                <a:moveTo>
                  <a:pt x="109728" y="1271016"/>
                </a:moveTo>
                <a:cubicBezTo>
                  <a:pt x="100584" y="1252728"/>
                  <a:pt x="91440" y="1234440"/>
                  <a:pt x="82296" y="1216152"/>
                </a:cubicBezTo>
                <a:lnTo>
                  <a:pt x="91440" y="1207008"/>
                </a:lnTo>
                <a:cubicBezTo>
                  <a:pt x="100584" y="1225296"/>
                  <a:pt x="109728" y="1252728"/>
                  <a:pt x="118872" y="1271016"/>
                </a:cubicBezTo>
                <a:lnTo>
                  <a:pt x="109728" y="1271016"/>
                </a:lnTo>
                <a:moveTo>
                  <a:pt x="1572768" y="1335024"/>
                </a:moveTo>
                <a:cubicBezTo>
                  <a:pt x="1554480" y="1353312"/>
                  <a:pt x="1545336" y="1371600"/>
                  <a:pt x="1527048" y="1389888"/>
                </a:cubicBezTo>
                <a:lnTo>
                  <a:pt x="1517904" y="1380744"/>
                </a:lnTo>
                <a:cubicBezTo>
                  <a:pt x="1536192" y="1362456"/>
                  <a:pt x="1545336" y="1344168"/>
                  <a:pt x="1563624" y="1325880"/>
                </a:cubicBezTo>
                <a:lnTo>
                  <a:pt x="1572768" y="1335024"/>
                </a:lnTo>
                <a:moveTo>
                  <a:pt x="182880" y="1389888"/>
                </a:moveTo>
                <a:cubicBezTo>
                  <a:pt x="173736" y="1371600"/>
                  <a:pt x="155448" y="1353312"/>
                  <a:pt x="146304" y="1335024"/>
                </a:cubicBezTo>
                <a:lnTo>
                  <a:pt x="155448" y="1325880"/>
                </a:lnTo>
                <a:cubicBezTo>
                  <a:pt x="164592" y="1344168"/>
                  <a:pt x="182880" y="1362456"/>
                  <a:pt x="192024" y="1380744"/>
                </a:cubicBezTo>
                <a:lnTo>
                  <a:pt x="182880" y="1389888"/>
                </a:lnTo>
                <a:moveTo>
                  <a:pt x="1481328" y="1435608"/>
                </a:moveTo>
                <a:cubicBezTo>
                  <a:pt x="1472184" y="1453896"/>
                  <a:pt x="1453896" y="1472184"/>
                  <a:pt x="1435608" y="1481328"/>
                </a:cubicBezTo>
                <a:lnTo>
                  <a:pt x="1426464" y="1472184"/>
                </a:lnTo>
                <a:cubicBezTo>
                  <a:pt x="1444752" y="1463040"/>
                  <a:pt x="1463040" y="1444752"/>
                  <a:pt x="1481328" y="1426464"/>
                </a:cubicBezTo>
                <a:lnTo>
                  <a:pt x="1481328" y="1435608"/>
                </a:lnTo>
                <a:moveTo>
                  <a:pt x="274320" y="1481328"/>
                </a:moveTo>
                <a:cubicBezTo>
                  <a:pt x="256032" y="1472184"/>
                  <a:pt x="246888" y="1453896"/>
                  <a:pt x="228600" y="1435608"/>
                </a:cubicBezTo>
                <a:lnTo>
                  <a:pt x="237744" y="1426464"/>
                </a:lnTo>
                <a:cubicBezTo>
                  <a:pt x="246888" y="1444752"/>
                  <a:pt x="265176" y="1463040"/>
                  <a:pt x="283464" y="1472184"/>
                </a:cubicBezTo>
                <a:lnTo>
                  <a:pt x="274320" y="1481328"/>
                </a:lnTo>
                <a:moveTo>
                  <a:pt x="1389888" y="1527048"/>
                </a:moveTo>
                <a:cubicBezTo>
                  <a:pt x="1371600" y="1545336"/>
                  <a:pt x="1353312" y="1554480"/>
                  <a:pt x="1335024" y="1563624"/>
                </a:cubicBezTo>
                <a:lnTo>
                  <a:pt x="1325880" y="1554480"/>
                </a:lnTo>
                <a:cubicBezTo>
                  <a:pt x="1344168" y="1545336"/>
                  <a:pt x="1362456" y="1536192"/>
                  <a:pt x="1380744" y="1517904"/>
                </a:cubicBezTo>
                <a:lnTo>
                  <a:pt x="1389888" y="1527048"/>
                </a:lnTo>
                <a:moveTo>
                  <a:pt x="384048" y="1563624"/>
                </a:moveTo>
                <a:cubicBezTo>
                  <a:pt x="365760" y="1554480"/>
                  <a:pt x="347472" y="1545336"/>
                  <a:pt x="329184" y="1527048"/>
                </a:cubicBezTo>
                <a:lnTo>
                  <a:pt x="329184" y="1517904"/>
                </a:lnTo>
                <a:cubicBezTo>
                  <a:pt x="347472" y="1536192"/>
                  <a:pt x="365760" y="1545336"/>
                  <a:pt x="384048" y="1554480"/>
                </a:cubicBezTo>
                <a:lnTo>
                  <a:pt x="384048" y="1563624"/>
                </a:lnTo>
                <a:moveTo>
                  <a:pt x="493776" y="1636776"/>
                </a:moveTo>
                <a:cubicBezTo>
                  <a:pt x="475488" y="1627632"/>
                  <a:pt x="457200" y="1609344"/>
                  <a:pt x="438912" y="1600200"/>
                </a:cubicBezTo>
                <a:lnTo>
                  <a:pt x="448056" y="1591056"/>
                </a:lnTo>
                <a:cubicBezTo>
                  <a:pt x="466344" y="1600200"/>
                  <a:pt x="484632" y="1609344"/>
                  <a:pt x="502920" y="1618488"/>
                </a:cubicBezTo>
                <a:lnTo>
                  <a:pt x="493776" y="1636776"/>
                </a:lnTo>
                <a:moveTo>
                  <a:pt x="1271016" y="1600200"/>
                </a:moveTo>
                <a:cubicBezTo>
                  <a:pt x="1252728" y="1609344"/>
                  <a:pt x="1234440" y="1627632"/>
                  <a:pt x="1216152" y="1636776"/>
                </a:cubicBezTo>
                <a:lnTo>
                  <a:pt x="1207008" y="1618488"/>
                </a:lnTo>
                <a:cubicBezTo>
                  <a:pt x="1234440" y="1609344"/>
                  <a:pt x="1252728" y="1600200"/>
                  <a:pt x="1271016" y="1591056"/>
                </a:cubicBezTo>
                <a:lnTo>
                  <a:pt x="1271016" y="1600200"/>
                </a:lnTo>
                <a:moveTo>
                  <a:pt x="621792" y="1682496"/>
                </a:moveTo>
                <a:cubicBezTo>
                  <a:pt x="603504" y="1673352"/>
                  <a:pt x="585216" y="1664208"/>
                  <a:pt x="557784" y="1655064"/>
                </a:cubicBezTo>
                <a:lnTo>
                  <a:pt x="566928" y="1645920"/>
                </a:lnTo>
                <a:cubicBezTo>
                  <a:pt x="585216" y="1655064"/>
                  <a:pt x="603504" y="1664208"/>
                  <a:pt x="630936" y="1664208"/>
                </a:cubicBezTo>
                <a:lnTo>
                  <a:pt x="621792" y="1682496"/>
                </a:lnTo>
                <a:moveTo>
                  <a:pt x="1152144" y="1655064"/>
                </a:moveTo>
                <a:cubicBezTo>
                  <a:pt x="1133856" y="1664208"/>
                  <a:pt x="1106424" y="1673352"/>
                  <a:pt x="1088136" y="1682496"/>
                </a:cubicBezTo>
                <a:lnTo>
                  <a:pt x="1088136" y="1664208"/>
                </a:lnTo>
                <a:cubicBezTo>
                  <a:pt x="1106424" y="1664208"/>
                  <a:pt x="1124712" y="1655064"/>
                  <a:pt x="1152144" y="1645920"/>
                </a:cubicBezTo>
                <a:lnTo>
                  <a:pt x="1152144" y="1655064"/>
                </a:lnTo>
                <a:moveTo>
                  <a:pt x="758952" y="1709928"/>
                </a:moveTo>
                <a:cubicBezTo>
                  <a:pt x="731520" y="1700784"/>
                  <a:pt x="713232" y="1700784"/>
                  <a:pt x="685800" y="1691640"/>
                </a:cubicBezTo>
                <a:lnTo>
                  <a:pt x="694944" y="1682496"/>
                </a:lnTo>
                <a:cubicBezTo>
                  <a:pt x="713232" y="1691640"/>
                  <a:pt x="731520" y="1691640"/>
                  <a:pt x="758952" y="1691640"/>
                </a:cubicBezTo>
                <a:lnTo>
                  <a:pt x="758952" y="1709928"/>
                </a:lnTo>
                <a:moveTo>
                  <a:pt x="1024128" y="1691640"/>
                </a:moveTo>
                <a:cubicBezTo>
                  <a:pt x="1005840" y="1700784"/>
                  <a:pt x="978408" y="1700784"/>
                  <a:pt x="960120" y="1709928"/>
                </a:cubicBezTo>
                <a:lnTo>
                  <a:pt x="960120" y="1691640"/>
                </a:lnTo>
                <a:cubicBezTo>
                  <a:pt x="978408" y="1691640"/>
                  <a:pt x="996696" y="1691640"/>
                  <a:pt x="1024128" y="1682496"/>
                </a:cubicBezTo>
                <a:lnTo>
                  <a:pt x="1024128" y="1691640"/>
                </a:lnTo>
                <a:moveTo>
                  <a:pt x="859536" y="1709928"/>
                </a:moveTo>
                <a:cubicBezTo>
                  <a:pt x="841248" y="1709928"/>
                  <a:pt x="832104" y="1709928"/>
                  <a:pt x="822960" y="1709928"/>
                </a:cubicBezTo>
                <a:lnTo>
                  <a:pt x="822960" y="1700784"/>
                </a:lnTo>
                <a:cubicBezTo>
                  <a:pt x="832104" y="1700784"/>
                  <a:pt x="841248" y="1700784"/>
                  <a:pt x="859536" y="1700784"/>
                </a:cubicBezTo>
                <a:cubicBezTo>
                  <a:pt x="868680" y="1700784"/>
                  <a:pt x="877824" y="1700784"/>
                  <a:pt x="886968" y="1700784"/>
                </a:cubicBezTo>
                <a:lnTo>
                  <a:pt x="886968" y="1709928"/>
                </a:lnTo>
                <a:cubicBezTo>
                  <a:pt x="877824" y="1709928"/>
                  <a:pt x="868680" y="1709928"/>
                  <a:pt x="859536" y="1709928"/>
                </a:cubicBezTo>
              </a:path>
            </a:pathLst>
          </a:custGeom>
          <a:gradFill>
            <a:gsLst>
              <a:gs pos="0">
                <a:schemeClr val="accent1">
                  <a:alpha val="100000"/>
                </a:schemeClr>
              </a:gs>
              <a:gs pos="100000">
                <a:schemeClr val="accent1">
                  <a:alpha val="100000"/>
                </a:schemeClr>
              </a:gs>
            </a:gsLst>
            <a:lin ang="3593688"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anchor="ctr" anchorCtr="0">
            <a:noAutofit/>
          </a:bodyPr>
          <a:p>
            <a:pPr algn="ctr"/>
            <a:r>
              <a:rPr lang="zh-CN" altLang="en-US" sz="1955" b="1" dirty="0">
                <a:solidFill>
                  <a:schemeClr val="tx1">
                    <a:lumMod val="100000"/>
                  </a:schemeClr>
                </a:solidFill>
                <a:latin typeface="+mn-ea"/>
                <a:cs typeface="+mn-ea"/>
                <a:sym typeface="+mn-ea"/>
              </a:rPr>
              <a:t>变量测量</a:t>
            </a:r>
            <a:endParaRPr lang="zh-CN" altLang="zh-CN" sz="1955" b="1" dirty="0">
              <a:solidFill>
                <a:schemeClr val="tx1">
                  <a:lumMod val="100000"/>
                </a:schemeClr>
              </a:solidFill>
              <a:latin typeface="+mn-ea"/>
              <a:cs typeface="+mn-ea"/>
              <a:sym typeface="+mn-ea"/>
            </a:endParaRPr>
          </a:p>
        </p:txBody>
      </p:sp>
      <p:sp>
        <p:nvSpPr>
          <p:cNvPr id="139" name="对象8"/>
          <p:cNvSpPr/>
          <p:nvPr>
            <p:custDataLst>
              <p:tags r:id="rId3"/>
            </p:custDataLst>
          </p:nvPr>
        </p:nvSpPr>
        <p:spPr>
          <a:xfrm>
            <a:off x="3415939" y="1421121"/>
            <a:ext cx="2316466" cy="2309018"/>
          </a:xfrm>
          <a:custGeom>
            <a:avLst/>
            <a:gdLst/>
            <a:ahLst/>
            <a:cxnLst/>
            <a:rect l="l" t="t" r="r" b="b"/>
            <a:pathLst>
              <a:path w="2843784" h="2834640">
                <a:moveTo>
                  <a:pt x="1417320" y="2834640"/>
                </a:moveTo>
                <a:cubicBezTo>
                  <a:pt x="2203704" y="2834640"/>
                  <a:pt x="2843784" y="2203704"/>
                  <a:pt x="2843784" y="1417320"/>
                </a:cubicBezTo>
                <a:cubicBezTo>
                  <a:pt x="2843784" y="630936"/>
                  <a:pt x="2203704" y="0"/>
                  <a:pt x="1417320" y="0"/>
                </a:cubicBezTo>
                <a:cubicBezTo>
                  <a:pt x="640080" y="0"/>
                  <a:pt x="0" y="630936"/>
                  <a:pt x="0" y="1417320"/>
                </a:cubicBezTo>
                <a:cubicBezTo>
                  <a:pt x="0" y="2203704"/>
                  <a:pt x="640080" y="2834640"/>
                  <a:pt x="1417320" y="2834640"/>
                </a:cubicBezTo>
                <a:moveTo>
                  <a:pt x="1417320" y="2459736"/>
                </a:moveTo>
                <a:cubicBezTo>
                  <a:pt x="1993392" y="2459736"/>
                  <a:pt x="2459736" y="1993392"/>
                  <a:pt x="2459736" y="1417320"/>
                </a:cubicBezTo>
                <a:cubicBezTo>
                  <a:pt x="2459736" y="841248"/>
                  <a:pt x="1993392" y="384048"/>
                  <a:pt x="1417320" y="384048"/>
                </a:cubicBezTo>
                <a:cubicBezTo>
                  <a:pt x="850392" y="384048"/>
                  <a:pt x="384048" y="841248"/>
                  <a:pt x="384048" y="1417320"/>
                </a:cubicBezTo>
                <a:cubicBezTo>
                  <a:pt x="384048" y="1993392"/>
                  <a:pt x="850392" y="2459736"/>
                  <a:pt x="1417320" y="2459736"/>
                </a:cubicBezTo>
              </a:path>
            </a:pathLst>
          </a:custGeom>
          <a:gradFill>
            <a:gsLst>
              <a:gs pos="0">
                <a:schemeClr val="accent1">
                  <a:alpha val="20000"/>
                </a:schemeClr>
              </a:gs>
              <a:gs pos="100000">
                <a:schemeClr val="accent1">
                  <a:alpha val="20000"/>
                </a:schemeClr>
              </a:gs>
            </a:gsLst>
            <a:lin ang="3593688"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p>
            <a:endParaRPr lang="zh-CN" altLang="en-US" sz="1465">
              <a:solidFill>
                <a:schemeClr val="lt1"/>
              </a:solidFill>
            </a:endParaRPr>
          </a:p>
        </p:txBody>
      </p:sp>
      <p:sp>
        <p:nvSpPr>
          <p:cNvPr id="140" name="对象9"/>
          <p:cNvSpPr/>
          <p:nvPr>
            <p:custDataLst>
              <p:tags r:id="rId4"/>
            </p:custDataLst>
          </p:nvPr>
        </p:nvSpPr>
        <p:spPr>
          <a:xfrm>
            <a:off x="3519907" y="1525606"/>
            <a:ext cx="2107910" cy="2107910"/>
          </a:xfrm>
          <a:custGeom>
            <a:avLst/>
            <a:gdLst/>
            <a:ahLst/>
            <a:cxnLst/>
            <a:rect l="l" t="t" r="r" b="b"/>
            <a:pathLst>
              <a:path w="2587752" h="2587752">
                <a:moveTo>
                  <a:pt x="1289304" y="2587752"/>
                </a:moveTo>
                <a:cubicBezTo>
                  <a:pt x="2011680" y="2587752"/>
                  <a:pt x="2587752" y="2002536"/>
                  <a:pt x="2587752" y="1289304"/>
                </a:cubicBezTo>
                <a:cubicBezTo>
                  <a:pt x="2587752" y="576072"/>
                  <a:pt x="2011680" y="0"/>
                  <a:pt x="1289304" y="0"/>
                </a:cubicBezTo>
                <a:cubicBezTo>
                  <a:pt x="576072" y="0"/>
                  <a:pt x="0" y="576072"/>
                  <a:pt x="0" y="1289304"/>
                </a:cubicBezTo>
                <a:cubicBezTo>
                  <a:pt x="0" y="2002536"/>
                  <a:pt x="576072" y="2587752"/>
                  <a:pt x="1289304" y="2587752"/>
                </a:cubicBezTo>
                <a:moveTo>
                  <a:pt x="1298448" y="2231136"/>
                </a:moveTo>
                <a:cubicBezTo>
                  <a:pt x="1819656" y="2231136"/>
                  <a:pt x="2240280" y="1810512"/>
                  <a:pt x="2240280" y="1289304"/>
                </a:cubicBezTo>
                <a:cubicBezTo>
                  <a:pt x="2240280" y="768096"/>
                  <a:pt x="1819656" y="347472"/>
                  <a:pt x="1298448" y="347472"/>
                </a:cubicBezTo>
                <a:cubicBezTo>
                  <a:pt x="777240" y="347472"/>
                  <a:pt x="347472" y="768096"/>
                  <a:pt x="347472" y="1289304"/>
                </a:cubicBezTo>
                <a:cubicBezTo>
                  <a:pt x="347472" y="1810512"/>
                  <a:pt x="777240" y="2231136"/>
                  <a:pt x="1298448" y="2231136"/>
                </a:cubicBezTo>
              </a:path>
            </a:pathLst>
          </a:custGeom>
          <a:gradFill>
            <a:gsLst>
              <a:gs pos="0">
                <a:schemeClr val="accent1">
                  <a:alpha val="100000"/>
                </a:schemeClr>
              </a:gs>
              <a:gs pos="100000">
                <a:schemeClr val="accent1">
                  <a:alpha val="100000"/>
                </a:schemeClr>
              </a:gs>
            </a:gsLst>
            <a:lin ang="3593688"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a:p>
            <a:endParaRPr lang="zh-CN" altLang="en-US" sz="1465">
              <a:solidFill>
                <a:schemeClr val="lt1"/>
              </a:solidFill>
            </a:endParaRPr>
          </a:p>
        </p:txBody>
      </p:sp>
      <p:sp>
        <p:nvSpPr>
          <p:cNvPr id="141" name="任意多边形 140"/>
          <p:cNvSpPr/>
          <p:nvPr>
            <p:custDataLst>
              <p:tags r:id="rId5"/>
            </p:custDataLst>
          </p:nvPr>
        </p:nvSpPr>
        <p:spPr>
          <a:xfrm>
            <a:off x="4823385" y="631792"/>
            <a:ext cx="4321132" cy="1899353"/>
          </a:xfrm>
          <a:custGeom>
            <a:avLst/>
            <a:gdLst>
              <a:gd name="adj" fmla="val 15604"/>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354" h="3672">
                <a:moveTo>
                  <a:pt x="1171" y="0"/>
                </a:moveTo>
                <a:lnTo>
                  <a:pt x="7183" y="0"/>
                </a:lnTo>
                <a:cubicBezTo>
                  <a:pt x="7830" y="0"/>
                  <a:pt x="8354" y="524"/>
                  <a:pt x="8354" y="1171"/>
                </a:cubicBezTo>
                <a:lnTo>
                  <a:pt x="8354" y="3672"/>
                </a:lnTo>
                <a:lnTo>
                  <a:pt x="1934" y="3672"/>
                </a:lnTo>
                <a:lnTo>
                  <a:pt x="1934" y="3650"/>
                </a:lnTo>
                <a:cubicBezTo>
                  <a:pt x="1884" y="2534"/>
                  <a:pt x="1073" y="1615"/>
                  <a:pt x="5" y="1397"/>
                </a:cubicBezTo>
                <a:lnTo>
                  <a:pt x="0" y="1396"/>
                </a:lnTo>
                <a:lnTo>
                  <a:pt x="0" y="1171"/>
                </a:lnTo>
                <a:cubicBezTo>
                  <a:pt x="0" y="524"/>
                  <a:pt x="524" y="0"/>
                  <a:pt x="1171" y="0"/>
                </a:cubicBezTo>
                <a:close/>
              </a:path>
            </a:pathLst>
          </a:custGeom>
          <a:gradFill>
            <a:gsLst>
              <a:gs pos="0">
                <a:schemeClr val="accent2">
                  <a:alpha val="10000"/>
                </a:schemeClr>
              </a:gs>
              <a:gs pos="100000">
                <a:schemeClr val="lt1">
                  <a:alpha val="0"/>
                </a:schemeClr>
              </a:gs>
            </a:gsLst>
            <a:lin ang="0" scaled="0"/>
          </a:gradFill>
          <a:ln w="12700">
            <a:gradFill>
              <a:gsLst>
                <a:gs pos="0">
                  <a:schemeClr val="bg1">
                    <a:alpha val="0"/>
                  </a:schemeClr>
                </a:gs>
                <a:gs pos="100000">
                  <a:schemeClr val="accent2">
                    <a:alpha val="50000"/>
                  </a:schemeClr>
                </a:gs>
              </a:gsLst>
              <a:lin ang="10800000" scaled="1"/>
            </a:grad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36929" rIns="73449" numCol="1" spcCol="0" rtlCol="0" fromWordArt="0" anchor="ctr" anchorCtr="1" forceAA="0" compatLnSpc="1">
            <a:noAutofit/>
            <a:scene3d>
              <a:camera prst="orthographicFront"/>
              <a:lightRig rig="threePt" dir="t"/>
            </a:scene3d>
          </a:bodyPr>
          <a:p>
            <a:pPr lvl="0" algn="l">
              <a:lnSpc>
                <a:spcPct val="150000"/>
              </a:lnSpc>
              <a:buClrTx/>
              <a:buSzTx/>
              <a:buFontTx/>
            </a:pPr>
            <a:r>
              <a:rPr lang="en-US" altLang="zh-CN" sz="1305" dirty="0">
                <a:solidFill>
                  <a:schemeClr val="tx1">
                    <a:lumMod val="85000"/>
                    <a:lumOff val="15000"/>
                  </a:schemeClr>
                </a:solidFill>
                <a:latin typeface="+mn-ea"/>
                <a:cs typeface="+mn-ea"/>
                <a:sym typeface="+mn-ea"/>
              </a:rPr>
              <a:t> </a:t>
            </a:r>
            <a:r>
              <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rPr>
              <a:t>自变量</a:t>
            </a:r>
            <a:r>
              <a:rPr lang="en-US" altLang="zh-CN" sz="1305" dirty="0">
                <a:ln/>
                <a:solidFill>
                  <a:srgbClr val="FF0000"/>
                </a:solidFill>
                <a:effectLst>
                  <a:outerShdw blurRad="38100" dist="19050" dir="2700000" algn="tl" rotWithShape="0">
                    <a:schemeClr val="dk1">
                      <a:alpha val="40000"/>
                      <a:alpha val="40000"/>
                    </a:schemeClr>
                  </a:outerShdw>
                </a:effectLst>
                <a:latin typeface="+mn-ea"/>
                <a:cs typeface="+mn-ea"/>
                <a:sym typeface="+mn-ea"/>
              </a:rPr>
              <a:t>-</a:t>
            </a:r>
            <a:r>
              <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rPr>
              <a:t>问卷测量</a:t>
            </a:r>
            <a:endPar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endParaRPr>
          </a:p>
          <a:p>
            <a:pPr lvl="0" algn="l">
              <a:lnSpc>
                <a:spcPct val="150000"/>
              </a:lnSpc>
              <a:buClrTx/>
              <a:buSzTx/>
              <a:buFontTx/>
            </a:pPr>
            <a:endPar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endParaRPr>
          </a:p>
          <a:p>
            <a:pPr lvl="0" algn="l">
              <a:lnSpc>
                <a:spcPct val="150000"/>
              </a:lnSpc>
              <a:buClrTx/>
              <a:buSzTx/>
              <a:buFontTx/>
            </a:pPr>
            <a:endPar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endParaRPr>
          </a:p>
          <a:p>
            <a:pPr lvl="0" algn="l">
              <a:lnSpc>
                <a:spcPct val="150000"/>
              </a:lnSpc>
              <a:buClrTx/>
              <a:buSzTx/>
              <a:buFontTx/>
            </a:pPr>
            <a:endPar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endParaRPr>
          </a:p>
          <a:p>
            <a:pPr lvl="0" algn="l">
              <a:lnSpc>
                <a:spcPct val="150000"/>
              </a:lnSpc>
              <a:buClrTx/>
              <a:buSzTx/>
              <a:buFontTx/>
            </a:pPr>
            <a:endPar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endParaRPr>
          </a:p>
        </p:txBody>
      </p:sp>
      <p:sp>
        <p:nvSpPr>
          <p:cNvPr id="142" name="任意多边形 141"/>
          <p:cNvSpPr/>
          <p:nvPr>
            <p:custDataLst>
              <p:tags r:id="rId6"/>
            </p:custDataLst>
          </p:nvPr>
        </p:nvSpPr>
        <p:spPr>
          <a:xfrm>
            <a:off x="4823385" y="2628389"/>
            <a:ext cx="4321132" cy="1883836"/>
          </a:xfrm>
          <a:custGeom>
            <a:avLst/>
            <a:gdLst>
              <a:gd name="adj" fmla="val 15604"/>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354" h="3642">
                <a:moveTo>
                  <a:pt x="1934" y="0"/>
                </a:moveTo>
                <a:lnTo>
                  <a:pt x="8354" y="0"/>
                </a:lnTo>
                <a:lnTo>
                  <a:pt x="8354" y="2471"/>
                </a:lnTo>
                <a:cubicBezTo>
                  <a:pt x="8354" y="3118"/>
                  <a:pt x="7830" y="3642"/>
                  <a:pt x="7183" y="3642"/>
                </a:cubicBezTo>
                <a:lnTo>
                  <a:pt x="1171" y="3642"/>
                </a:lnTo>
                <a:cubicBezTo>
                  <a:pt x="524" y="3642"/>
                  <a:pt x="0" y="3118"/>
                  <a:pt x="0" y="2471"/>
                </a:cubicBezTo>
                <a:lnTo>
                  <a:pt x="0" y="2261"/>
                </a:lnTo>
                <a:lnTo>
                  <a:pt x="5" y="2260"/>
                </a:lnTo>
                <a:cubicBezTo>
                  <a:pt x="1073" y="2042"/>
                  <a:pt x="1884" y="1123"/>
                  <a:pt x="1934" y="8"/>
                </a:cubicBezTo>
                <a:lnTo>
                  <a:pt x="1934" y="0"/>
                </a:lnTo>
                <a:close/>
              </a:path>
            </a:pathLst>
          </a:custGeom>
          <a:gradFill>
            <a:gsLst>
              <a:gs pos="0">
                <a:schemeClr val="accent2">
                  <a:alpha val="10000"/>
                </a:schemeClr>
              </a:gs>
              <a:gs pos="100000">
                <a:schemeClr val="lt1">
                  <a:alpha val="0"/>
                </a:schemeClr>
              </a:gs>
            </a:gsLst>
            <a:lin ang="0" scaled="0"/>
          </a:gradFill>
          <a:ln w="12700">
            <a:gradFill>
              <a:gsLst>
                <a:gs pos="0">
                  <a:schemeClr val="bg1">
                    <a:alpha val="0"/>
                  </a:schemeClr>
                </a:gs>
                <a:gs pos="100000">
                  <a:schemeClr val="accent2">
                    <a:alpha val="50000"/>
                  </a:schemeClr>
                </a:gs>
              </a:gsLst>
              <a:lin ang="10800000" scaled="1"/>
            </a:grad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36929" rIns="73449" numCol="1" spcCol="0" rtlCol="0" fromWordArt="0" anchor="ctr" anchorCtr="1" forceAA="0" compatLnSpc="1">
            <a:noAutofit/>
          </a:bodyPr>
          <a:p>
            <a:pPr lvl="0" algn="l">
              <a:lnSpc>
                <a:spcPct val="150000"/>
              </a:lnSpc>
              <a:buClrTx/>
              <a:buSzTx/>
              <a:buFontTx/>
            </a:pPr>
            <a:r>
              <a:rPr lang="zh-CN" altLang="en-US" sz="1305">
                <a:ln/>
                <a:solidFill>
                  <a:srgbClr val="FF0000"/>
                </a:solidFill>
                <a:effectLst>
                  <a:outerShdw blurRad="38100" dist="19050" dir="2700000" algn="tl" rotWithShape="0">
                    <a:schemeClr val="dk1">
                      <a:alpha val="40000"/>
                      <a:alpha val="40000"/>
                    </a:schemeClr>
                  </a:outerShdw>
                </a:effectLst>
                <a:latin typeface="+mn-ea"/>
                <a:cs typeface="+mn-ea"/>
                <a:sym typeface="+mn-ea"/>
              </a:rPr>
              <a:t>控制变量</a:t>
            </a:r>
            <a:endParaRPr lang="zh-CN" altLang="en-US" sz="1305">
              <a:ln/>
              <a:solidFill>
                <a:srgbClr val="FF0000"/>
              </a:solidFill>
              <a:effectLst>
                <a:outerShdw blurRad="38100" dist="19050" dir="2700000" algn="tl" rotWithShape="0">
                  <a:schemeClr val="dk1">
                    <a:alpha val="40000"/>
                    <a:alpha val="40000"/>
                  </a:schemeClr>
                </a:outerShdw>
              </a:effectLst>
              <a:latin typeface="+mn-ea"/>
              <a:cs typeface="+mn-ea"/>
              <a:sym typeface="+mn-ea"/>
            </a:endParaRPr>
          </a:p>
          <a:p>
            <a:pPr lvl="0" algn="l">
              <a:lnSpc>
                <a:spcPct val="150000"/>
              </a:lnSpc>
              <a:buClrTx/>
              <a:buSzTx/>
              <a:buFontTx/>
            </a:pPr>
            <a:r>
              <a:rPr lang="en-US" altLang="zh-CN" sz="1305">
                <a:ln/>
                <a:solidFill>
                  <a:schemeClr val="tx1"/>
                </a:solidFill>
                <a:effectLst/>
                <a:latin typeface="+mn-ea"/>
                <a:cs typeface="+mn-ea"/>
                <a:sym typeface="+mn-ea"/>
              </a:rPr>
              <a:t>1</a:t>
            </a:r>
            <a:r>
              <a:rPr lang="zh-CN" altLang="en-US" sz="1305">
                <a:ln/>
                <a:solidFill>
                  <a:schemeClr val="tx1"/>
                </a:solidFill>
                <a:effectLst/>
                <a:latin typeface="+mn-ea"/>
                <a:cs typeface="+mn-ea"/>
                <a:sym typeface="+mn-ea"/>
              </a:rPr>
              <a:t>）性别</a:t>
            </a:r>
            <a:endParaRPr lang="zh-CN" altLang="en-US" sz="1305">
              <a:ln/>
              <a:solidFill>
                <a:schemeClr val="tx1"/>
              </a:solidFill>
              <a:effectLst/>
              <a:latin typeface="+mn-ea"/>
              <a:cs typeface="+mn-ea"/>
              <a:sym typeface="+mn-ea"/>
            </a:endParaRPr>
          </a:p>
          <a:p>
            <a:pPr lvl="0" algn="l">
              <a:lnSpc>
                <a:spcPct val="150000"/>
              </a:lnSpc>
              <a:buClrTx/>
              <a:buSzTx/>
              <a:buFontTx/>
            </a:pPr>
            <a:r>
              <a:rPr lang="en-US" altLang="zh-CN" sz="1305">
                <a:ln/>
                <a:solidFill>
                  <a:schemeClr val="tx1"/>
                </a:solidFill>
                <a:effectLst/>
                <a:latin typeface="+mn-ea"/>
                <a:cs typeface="+mn-ea"/>
                <a:sym typeface="+mn-ea"/>
              </a:rPr>
              <a:t>2</a:t>
            </a:r>
            <a:r>
              <a:rPr lang="zh-CN" altLang="en-US" sz="1305">
                <a:ln/>
                <a:solidFill>
                  <a:schemeClr val="tx1"/>
                </a:solidFill>
                <a:effectLst/>
                <a:latin typeface="+mn-ea"/>
                <a:cs typeface="+mn-ea"/>
                <a:sym typeface="+mn-ea"/>
              </a:rPr>
              <a:t>）年龄</a:t>
            </a:r>
            <a:endParaRPr lang="zh-CN" altLang="en-US" sz="1305">
              <a:ln/>
              <a:solidFill>
                <a:schemeClr val="tx1"/>
              </a:solidFill>
              <a:effectLst/>
              <a:latin typeface="+mn-ea"/>
              <a:cs typeface="+mn-ea"/>
              <a:sym typeface="+mn-ea"/>
            </a:endParaRPr>
          </a:p>
          <a:p>
            <a:pPr lvl="0" algn="l">
              <a:lnSpc>
                <a:spcPct val="150000"/>
              </a:lnSpc>
              <a:buClrTx/>
              <a:buSzTx/>
              <a:buFontTx/>
            </a:pPr>
            <a:r>
              <a:rPr lang="en-US" altLang="zh-CN" sz="1305">
                <a:ln/>
                <a:solidFill>
                  <a:schemeClr val="tx1"/>
                </a:solidFill>
                <a:effectLst/>
                <a:latin typeface="+mn-ea"/>
                <a:cs typeface="+mn-ea"/>
                <a:sym typeface="+mn-ea"/>
              </a:rPr>
              <a:t>3</a:t>
            </a:r>
            <a:r>
              <a:rPr lang="zh-CN" altLang="en-US" sz="1305">
                <a:ln/>
                <a:solidFill>
                  <a:schemeClr val="tx1"/>
                </a:solidFill>
                <a:effectLst/>
                <a:latin typeface="+mn-ea"/>
                <a:cs typeface="+mn-ea"/>
                <a:sym typeface="+mn-ea"/>
              </a:rPr>
              <a:t>）任务熟悉度</a:t>
            </a:r>
            <a:endParaRPr lang="zh-CN" altLang="en-US" sz="1305">
              <a:ln/>
              <a:solidFill>
                <a:schemeClr val="tx1"/>
              </a:solidFill>
              <a:effectLst/>
              <a:latin typeface="+mn-ea"/>
              <a:cs typeface="+mn-ea"/>
              <a:sym typeface="+mn-ea"/>
            </a:endParaRPr>
          </a:p>
          <a:p>
            <a:pPr lvl="0" algn="l">
              <a:lnSpc>
                <a:spcPct val="150000"/>
              </a:lnSpc>
              <a:buClrTx/>
              <a:buSzTx/>
              <a:buFontTx/>
            </a:pPr>
            <a:endParaRPr lang="zh-CN" altLang="en-US" sz="1305">
              <a:ln/>
              <a:solidFill>
                <a:srgbClr val="FF0000"/>
              </a:solidFill>
              <a:effectLst>
                <a:outerShdw blurRad="38100" dist="19050" dir="2700000" algn="tl" rotWithShape="0">
                  <a:schemeClr val="dk1">
                    <a:alpha val="40000"/>
                    <a:alpha val="40000"/>
                  </a:schemeClr>
                </a:outerShdw>
              </a:effectLst>
              <a:latin typeface="+mn-ea"/>
              <a:cs typeface="+mn-ea"/>
              <a:sym typeface="+mn-ea"/>
            </a:endParaRPr>
          </a:p>
          <a:p>
            <a:pPr lvl="0" algn="l">
              <a:lnSpc>
                <a:spcPct val="150000"/>
              </a:lnSpc>
              <a:buClrTx/>
              <a:buSzTx/>
              <a:buFontTx/>
            </a:pPr>
            <a:endParaRPr lang="zh-CN" altLang="en-US" sz="1305">
              <a:ln/>
              <a:solidFill>
                <a:srgbClr val="FF0000"/>
              </a:solidFill>
              <a:effectLst>
                <a:outerShdw blurRad="38100" dist="19050" dir="2700000" algn="tl" rotWithShape="0">
                  <a:schemeClr val="dk1">
                    <a:alpha val="40000"/>
                    <a:alpha val="40000"/>
                  </a:schemeClr>
                </a:outerShdw>
              </a:effectLst>
              <a:latin typeface="+mn-ea"/>
              <a:cs typeface="+mn-ea"/>
              <a:sym typeface="+mn-ea"/>
            </a:endParaRPr>
          </a:p>
        </p:txBody>
      </p:sp>
      <p:sp>
        <p:nvSpPr>
          <p:cNvPr id="143" name="椭圆 142"/>
          <p:cNvSpPr/>
          <p:nvPr>
            <p:custDataLst>
              <p:tags r:id="rId7"/>
            </p:custDataLst>
          </p:nvPr>
        </p:nvSpPr>
        <p:spPr>
          <a:xfrm>
            <a:off x="5628231" y="1373016"/>
            <a:ext cx="416408" cy="416409"/>
          </a:xfrm>
          <a:prstGeom prst="ellipse">
            <a:avLst/>
          </a:prstGeom>
          <a:gradFill>
            <a:gsLst>
              <a:gs pos="0">
                <a:schemeClr val="accent2">
                  <a:alpha val="100000"/>
                </a:schemeClr>
              </a:gs>
              <a:gs pos="100000">
                <a:schemeClr val="accent2">
                  <a:alpha val="100000"/>
                </a:schemeClr>
              </a:gs>
            </a:gsLst>
            <a:lin ang="3594000" scaled="0"/>
          </a:gradFill>
          <a:effectLst>
            <a:outerShdw blurRad="254000" dist="50800" dir="5400000" sx="102000" sy="102000" algn="ctr" rotWithShape="0">
              <a:schemeClr val="accent2">
                <a:lumMod val="40000"/>
                <a:lumOff val="60000"/>
                <a:alpha val="40000"/>
              </a:schemeClr>
            </a:outerShdw>
          </a:effectLst>
        </p:spPr>
        <p:txBody>
          <a:bodyPr wrap="none" lIns="0" tIns="0" rIns="0" bIns="0" rtlCol="0" anchor="ctr">
            <a:normAutofit/>
          </a:bodyPr>
          <a:p>
            <a:pPr algn="ctr">
              <a:spcBef>
                <a:spcPct val="0"/>
              </a:spcBef>
              <a:spcAft>
                <a:spcPct val="0"/>
              </a:spcAft>
            </a:pPr>
            <a:r>
              <a:rPr lang="en-US" altLang="zh-CN" sz="1630" b="1">
                <a:solidFill>
                  <a:srgbClr val="FFFFFF"/>
                </a:solidFill>
                <a:latin typeface="+mn-ea"/>
                <a:cs typeface="+mn-ea"/>
                <a:sym typeface="+mn-ea"/>
              </a:rPr>
              <a:t>02</a:t>
            </a:r>
            <a:endParaRPr lang="en-US" altLang="zh-CN" sz="1630" b="1">
              <a:solidFill>
                <a:srgbClr val="FFFFFF"/>
              </a:solidFill>
              <a:latin typeface="+mn-ea"/>
              <a:cs typeface="+mn-ea"/>
              <a:sym typeface="+mn-ea"/>
            </a:endParaRPr>
          </a:p>
        </p:txBody>
      </p:sp>
      <p:sp>
        <p:nvSpPr>
          <p:cNvPr id="144" name="椭圆 143"/>
          <p:cNvSpPr/>
          <p:nvPr>
            <p:custDataLst>
              <p:tags r:id="rId8"/>
            </p:custDataLst>
          </p:nvPr>
        </p:nvSpPr>
        <p:spPr>
          <a:xfrm>
            <a:off x="5628231" y="3361854"/>
            <a:ext cx="416408" cy="416409"/>
          </a:xfrm>
          <a:prstGeom prst="ellipse">
            <a:avLst/>
          </a:prstGeom>
          <a:gradFill>
            <a:gsLst>
              <a:gs pos="0">
                <a:schemeClr val="accent1">
                  <a:alpha val="100000"/>
                </a:schemeClr>
              </a:gs>
              <a:gs pos="100000">
                <a:schemeClr val="accent1">
                  <a:alpha val="100000"/>
                </a:schemeClr>
              </a:gs>
            </a:gsLst>
            <a:lin ang="3594000" scaled="0"/>
          </a:gradFill>
          <a:effectLst>
            <a:outerShdw blurRad="254000" dist="50800" dir="5400000" sx="102000" sy="102000" algn="ctr" rotWithShape="0">
              <a:schemeClr val="accent1">
                <a:lumMod val="40000"/>
                <a:lumOff val="60000"/>
                <a:alpha val="40000"/>
              </a:schemeClr>
            </a:outerShdw>
          </a:effectLst>
        </p:spPr>
        <p:txBody>
          <a:bodyPr wrap="none" lIns="0" tIns="0" rIns="0" bIns="0" rtlCol="0" anchor="ctr">
            <a:normAutofit/>
          </a:bodyPr>
          <a:p>
            <a:pPr algn="ctr">
              <a:spcBef>
                <a:spcPct val="0"/>
              </a:spcBef>
              <a:spcAft>
                <a:spcPct val="0"/>
              </a:spcAft>
            </a:pPr>
            <a:r>
              <a:rPr lang="en-US" altLang="zh-CN" sz="1630" b="1">
                <a:solidFill>
                  <a:srgbClr val="FFFFFF"/>
                </a:solidFill>
                <a:latin typeface="+mn-ea"/>
                <a:cs typeface="+mn-ea"/>
                <a:sym typeface="+mn-ea"/>
              </a:rPr>
              <a:t>04</a:t>
            </a:r>
            <a:endParaRPr lang="en-US" altLang="zh-CN" sz="1630" b="1">
              <a:solidFill>
                <a:srgbClr val="FFFFFF"/>
              </a:solidFill>
              <a:latin typeface="+mn-ea"/>
              <a:cs typeface="+mn-ea"/>
              <a:sym typeface="+mn-ea"/>
            </a:endParaRPr>
          </a:p>
        </p:txBody>
      </p:sp>
      <p:sp>
        <p:nvSpPr>
          <p:cNvPr id="145" name="任意多边形 144"/>
          <p:cNvSpPr/>
          <p:nvPr>
            <p:custDataLst>
              <p:tags r:id="rId9"/>
            </p:custDataLst>
          </p:nvPr>
        </p:nvSpPr>
        <p:spPr>
          <a:xfrm flipH="1">
            <a:off x="517" y="2628389"/>
            <a:ext cx="4321132" cy="1883836"/>
          </a:xfrm>
          <a:custGeom>
            <a:avLst/>
            <a:gdLst>
              <a:gd name="adj" fmla="val 15604"/>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354" h="3642">
                <a:moveTo>
                  <a:pt x="1934" y="0"/>
                </a:moveTo>
                <a:lnTo>
                  <a:pt x="8354" y="0"/>
                </a:lnTo>
                <a:lnTo>
                  <a:pt x="8354" y="2471"/>
                </a:lnTo>
                <a:cubicBezTo>
                  <a:pt x="8354" y="3118"/>
                  <a:pt x="7830" y="3642"/>
                  <a:pt x="7183" y="3642"/>
                </a:cubicBezTo>
                <a:lnTo>
                  <a:pt x="1171" y="3642"/>
                </a:lnTo>
                <a:cubicBezTo>
                  <a:pt x="524" y="3642"/>
                  <a:pt x="0" y="3118"/>
                  <a:pt x="0" y="2471"/>
                </a:cubicBezTo>
                <a:lnTo>
                  <a:pt x="0" y="2261"/>
                </a:lnTo>
                <a:lnTo>
                  <a:pt x="5" y="2260"/>
                </a:lnTo>
                <a:cubicBezTo>
                  <a:pt x="1073" y="2042"/>
                  <a:pt x="1884" y="1123"/>
                  <a:pt x="1934" y="8"/>
                </a:cubicBezTo>
                <a:lnTo>
                  <a:pt x="1934" y="0"/>
                </a:lnTo>
                <a:close/>
              </a:path>
            </a:pathLst>
          </a:custGeom>
          <a:gradFill>
            <a:gsLst>
              <a:gs pos="0">
                <a:schemeClr val="accent1">
                  <a:alpha val="10000"/>
                </a:schemeClr>
              </a:gs>
              <a:gs pos="100000">
                <a:schemeClr val="lt1">
                  <a:alpha val="0"/>
                </a:schemeClr>
              </a:gs>
            </a:gsLst>
            <a:lin ang="0" scaled="0"/>
          </a:gradFill>
          <a:ln w="12700">
            <a:gradFill>
              <a:gsLst>
                <a:gs pos="0">
                  <a:schemeClr val="bg1">
                    <a:alpha val="0"/>
                  </a:schemeClr>
                </a:gs>
                <a:gs pos="100000">
                  <a:schemeClr val="accent1">
                    <a:alpha val="50000"/>
                  </a:schemeClr>
                </a:gs>
              </a:gsLst>
              <a:lin ang="10800000" scaled="1"/>
            </a:gradFill>
          </a:ln>
          <a:effectLst/>
          <a:extLs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73449" rIns="1436929" numCol="1" spcCol="0" rtlCol="0" fromWordArt="0" anchor="ctr" anchorCtr="1" forceAA="0" compatLnSpc="1">
            <a:noAutofit/>
          </a:bodyPr>
          <a:p>
            <a:pPr lvl="0" algn="r">
              <a:lnSpc>
                <a:spcPct val="150000"/>
              </a:lnSpc>
              <a:buClrTx/>
              <a:buSzTx/>
              <a:buFontTx/>
            </a:pPr>
            <a:r>
              <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rPr>
              <a:t>因变量</a:t>
            </a:r>
            <a:r>
              <a:rPr lang="en-US" altLang="zh-CN" sz="1305" dirty="0">
                <a:ln/>
                <a:solidFill>
                  <a:srgbClr val="FF0000"/>
                </a:solidFill>
                <a:effectLst>
                  <a:outerShdw blurRad="38100" dist="19050" dir="2700000" algn="tl" rotWithShape="0">
                    <a:schemeClr val="dk1">
                      <a:alpha val="40000"/>
                      <a:alpha val="40000"/>
                    </a:schemeClr>
                  </a:outerShdw>
                </a:effectLst>
                <a:latin typeface="+mn-ea"/>
                <a:cs typeface="+mn-ea"/>
                <a:sym typeface="+mn-ea"/>
              </a:rPr>
              <a:t>-</a:t>
            </a:r>
            <a:r>
              <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rPr>
              <a:t>数据复用绩效</a:t>
            </a:r>
            <a:endParaRPr lang="zh-CN" altLang="en-US" sz="1305" dirty="0">
              <a:ln/>
              <a:solidFill>
                <a:srgbClr val="FF0000"/>
              </a:solidFill>
              <a:effectLst>
                <a:outerShdw blurRad="38100" dist="19050" dir="2700000" algn="tl" rotWithShape="0">
                  <a:schemeClr val="dk1">
                    <a:alpha val="40000"/>
                    <a:alpha val="40000"/>
                  </a:schemeClr>
                </a:outerShdw>
              </a:effectLst>
              <a:latin typeface="+mn-ea"/>
              <a:cs typeface="+mn-ea"/>
              <a:sym typeface="+mn-ea"/>
            </a:endParaRPr>
          </a:p>
          <a:p>
            <a:pPr lvl="0" algn="r">
              <a:lnSpc>
                <a:spcPct val="150000"/>
              </a:lnSpc>
              <a:buClrTx/>
              <a:buSzTx/>
              <a:buFontTx/>
            </a:pPr>
            <a:r>
              <a:rPr lang="en-US" altLang="zh-CN" sz="1305" dirty="0">
                <a:ln/>
                <a:solidFill>
                  <a:schemeClr val="tx1"/>
                </a:solidFill>
                <a:effectLst/>
                <a:latin typeface="+mn-ea"/>
                <a:cs typeface="+mn-ea"/>
                <a:sym typeface="+mn-ea"/>
              </a:rPr>
              <a:t>1）</a:t>
            </a:r>
            <a:r>
              <a:rPr lang="zh-CN" altLang="en-US" sz="1305" dirty="0">
                <a:ln/>
                <a:solidFill>
                  <a:schemeClr val="tx1"/>
                </a:solidFill>
                <a:effectLst/>
                <a:latin typeface="+mn-ea"/>
                <a:cs typeface="+mn-ea"/>
                <a:sym typeface="+mn-ea"/>
              </a:rPr>
              <a:t>感知复用难度</a:t>
            </a:r>
            <a:endParaRPr lang="zh-CN" altLang="en-US" sz="1305" dirty="0">
              <a:ln/>
              <a:solidFill>
                <a:schemeClr val="tx1"/>
              </a:solidFill>
              <a:effectLst/>
              <a:latin typeface="+mn-ea"/>
              <a:cs typeface="+mn-ea"/>
              <a:sym typeface="+mn-ea"/>
            </a:endParaRPr>
          </a:p>
          <a:p>
            <a:pPr lvl="0" algn="r">
              <a:lnSpc>
                <a:spcPct val="150000"/>
              </a:lnSpc>
              <a:buClrTx/>
              <a:buSzTx/>
              <a:buFontTx/>
            </a:pPr>
            <a:r>
              <a:rPr lang="en-US" altLang="zh-CN" sz="1305" dirty="0">
                <a:ln/>
                <a:solidFill>
                  <a:schemeClr val="tx1"/>
                </a:solidFill>
                <a:effectLst/>
                <a:latin typeface="+mn-ea"/>
                <a:cs typeface="+mn-ea"/>
                <a:sym typeface="+mn-ea"/>
              </a:rPr>
              <a:t>2）</a:t>
            </a:r>
            <a:r>
              <a:rPr lang="zh-CN" altLang="en-US" sz="1305" dirty="0">
                <a:ln/>
                <a:solidFill>
                  <a:schemeClr val="tx1"/>
                </a:solidFill>
                <a:effectLst/>
                <a:latin typeface="+mn-ea"/>
                <a:cs typeface="+mn-ea"/>
                <a:sym typeface="+mn-ea"/>
              </a:rPr>
              <a:t>复用效率</a:t>
            </a:r>
            <a:endParaRPr lang="zh-CN" altLang="en-US" sz="1305" dirty="0">
              <a:ln/>
              <a:solidFill>
                <a:schemeClr val="tx1"/>
              </a:solidFill>
              <a:effectLst/>
              <a:latin typeface="+mn-ea"/>
              <a:cs typeface="+mn-ea"/>
              <a:sym typeface="+mn-ea"/>
            </a:endParaRPr>
          </a:p>
        </p:txBody>
      </p:sp>
      <p:sp>
        <p:nvSpPr>
          <p:cNvPr id="146" name="椭圆 145"/>
          <p:cNvSpPr/>
          <p:nvPr>
            <p:custDataLst>
              <p:tags r:id="rId10"/>
            </p:custDataLst>
          </p:nvPr>
        </p:nvSpPr>
        <p:spPr>
          <a:xfrm>
            <a:off x="3103518" y="1373016"/>
            <a:ext cx="416409" cy="416409"/>
          </a:xfrm>
          <a:prstGeom prst="ellipse">
            <a:avLst/>
          </a:prstGeom>
          <a:gradFill>
            <a:gsLst>
              <a:gs pos="0">
                <a:schemeClr val="accent1">
                  <a:alpha val="100000"/>
                </a:schemeClr>
              </a:gs>
              <a:gs pos="100000">
                <a:schemeClr val="accent1">
                  <a:alpha val="100000"/>
                </a:schemeClr>
              </a:gs>
            </a:gsLst>
            <a:lin ang="3594000" scaled="0"/>
          </a:gradFill>
          <a:effectLst>
            <a:outerShdw blurRad="254000" dist="50800" dir="5400000" sx="102000" sy="102000" algn="ctr" rotWithShape="0">
              <a:schemeClr val="accent1">
                <a:lumMod val="40000"/>
                <a:lumOff val="60000"/>
                <a:alpha val="40000"/>
              </a:schemeClr>
            </a:outerShdw>
          </a:effectLst>
        </p:spPr>
        <p:txBody>
          <a:bodyPr wrap="none" lIns="0" tIns="0" rIns="0" bIns="0" rtlCol="0" anchor="ctr">
            <a:normAutofit/>
          </a:bodyPr>
          <a:p>
            <a:pPr algn="ctr">
              <a:spcBef>
                <a:spcPct val="0"/>
              </a:spcBef>
              <a:spcAft>
                <a:spcPct val="0"/>
              </a:spcAft>
            </a:pPr>
            <a:r>
              <a:rPr lang="en-US" altLang="zh-CN" sz="1630" b="1">
                <a:solidFill>
                  <a:srgbClr val="FFFFFF"/>
                </a:solidFill>
                <a:latin typeface="+mn-ea"/>
                <a:cs typeface="+mn-ea"/>
                <a:sym typeface="+mn-ea"/>
              </a:rPr>
              <a:t>01</a:t>
            </a:r>
            <a:endParaRPr lang="en-US" altLang="zh-CN" sz="1630" b="1">
              <a:solidFill>
                <a:srgbClr val="FFFFFF"/>
              </a:solidFill>
              <a:latin typeface="+mn-ea"/>
              <a:cs typeface="+mn-ea"/>
              <a:sym typeface="+mn-ea"/>
            </a:endParaRPr>
          </a:p>
        </p:txBody>
      </p:sp>
      <p:sp>
        <p:nvSpPr>
          <p:cNvPr id="147" name="椭圆 146"/>
          <p:cNvSpPr/>
          <p:nvPr>
            <p:custDataLst>
              <p:tags r:id="rId11"/>
            </p:custDataLst>
          </p:nvPr>
        </p:nvSpPr>
        <p:spPr>
          <a:xfrm>
            <a:off x="3103518" y="3361854"/>
            <a:ext cx="416409" cy="416409"/>
          </a:xfrm>
          <a:prstGeom prst="ellipse">
            <a:avLst/>
          </a:prstGeom>
          <a:gradFill>
            <a:gsLst>
              <a:gs pos="0">
                <a:schemeClr val="accent2">
                  <a:alpha val="100000"/>
                </a:schemeClr>
              </a:gs>
              <a:gs pos="100000">
                <a:schemeClr val="accent2">
                  <a:alpha val="100000"/>
                </a:schemeClr>
              </a:gs>
            </a:gsLst>
            <a:lin ang="3594000" scaled="0"/>
          </a:gradFill>
          <a:effectLst>
            <a:outerShdw blurRad="254000" dist="50800" dir="5400000" sx="102000" sy="102000" algn="ctr" rotWithShape="0">
              <a:schemeClr val="accent2">
                <a:lumMod val="40000"/>
                <a:lumOff val="60000"/>
                <a:alpha val="40000"/>
              </a:schemeClr>
            </a:outerShdw>
          </a:effectLst>
        </p:spPr>
        <p:txBody>
          <a:bodyPr wrap="none" lIns="0" tIns="0" rIns="0" bIns="0" rtlCol="0" anchor="ctr">
            <a:normAutofit/>
          </a:bodyPr>
          <a:p>
            <a:pPr algn="ctr">
              <a:spcBef>
                <a:spcPct val="0"/>
              </a:spcBef>
              <a:spcAft>
                <a:spcPct val="0"/>
              </a:spcAft>
            </a:pPr>
            <a:r>
              <a:rPr lang="en-US" altLang="zh-CN" sz="1630" b="1">
                <a:solidFill>
                  <a:srgbClr val="FFFFFF"/>
                </a:solidFill>
                <a:latin typeface="+mn-ea"/>
                <a:cs typeface="+mn-ea"/>
                <a:sym typeface="+mn-ea"/>
              </a:rPr>
              <a:t>03</a:t>
            </a:r>
            <a:endParaRPr lang="en-US" altLang="zh-CN" sz="1630" b="1">
              <a:solidFill>
                <a:srgbClr val="FFFFFF"/>
              </a:solidFill>
              <a:latin typeface="+mn-ea"/>
              <a:cs typeface="+mn-ea"/>
              <a:sym typeface="+mn-ea"/>
            </a:endParaRPr>
          </a:p>
        </p:txBody>
      </p:sp>
      <p:pic>
        <p:nvPicPr>
          <p:cNvPr id="148" name="图片 147" descr="QQ_1742484394605"/>
          <p:cNvPicPr>
            <a:picLocks noChangeAspect="1"/>
          </p:cNvPicPr>
          <p:nvPr/>
        </p:nvPicPr>
        <p:blipFill>
          <a:blip r:embed="rId12"/>
          <a:stretch>
            <a:fillRect/>
          </a:stretch>
        </p:blipFill>
        <p:spPr>
          <a:xfrm>
            <a:off x="554355" y="1525905"/>
            <a:ext cx="2442000" cy="828000"/>
          </a:xfrm>
          <a:prstGeom prst="rect">
            <a:avLst/>
          </a:prstGeom>
        </p:spPr>
      </p:pic>
      <p:pic>
        <p:nvPicPr>
          <p:cNvPr id="150" name="图片 149" descr="QQ_1742484534697"/>
          <p:cNvPicPr>
            <a:picLocks noChangeAspect="1"/>
          </p:cNvPicPr>
          <p:nvPr/>
        </p:nvPicPr>
        <p:blipFill>
          <a:blip r:embed="rId13"/>
          <a:srcRect r="27053"/>
          <a:stretch>
            <a:fillRect/>
          </a:stretch>
        </p:blipFill>
        <p:spPr>
          <a:xfrm>
            <a:off x="6233795" y="1295400"/>
            <a:ext cx="2397125" cy="10585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10"/>
          <p:cNvSpPr txBox="1"/>
          <p:nvPr/>
        </p:nvSpPr>
        <p:spPr>
          <a:xfrm>
            <a:off x="798765" y="1968925"/>
            <a:ext cx="5807947" cy="1137285"/>
          </a:xfrm>
          <a:prstGeom prst="rect">
            <a:avLst/>
          </a:prstGeom>
          <a:noFill/>
        </p:spPr>
        <p:txBody>
          <a:bodyPr wrap="square" rtlCol="0">
            <a:spAutoFit/>
          </a:bodyPr>
          <a:lstStyle/>
          <a:p>
            <a:r>
              <a:rPr lang="zh-CN" altLang="en-US" sz="3600" dirty="0" smtClean="0">
                <a:solidFill>
                  <a:srgbClr val="33495E"/>
                </a:solidFill>
                <a:latin typeface="微软雅黑" pitchFamily="34" charset="-122"/>
                <a:ea typeface="微软雅黑" pitchFamily="34" charset="-122"/>
                <a:sym typeface="+mn-ea"/>
              </a:rPr>
              <a:t>数据分析</a:t>
            </a:r>
            <a:endParaRPr lang="en-US" altLang="zh-CN" sz="3600" dirty="0" smtClean="0">
              <a:solidFill>
                <a:srgbClr val="33495E"/>
              </a:solidFill>
              <a:latin typeface="微软雅黑" pitchFamily="34" charset="-122"/>
              <a:ea typeface="微软雅黑" pitchFamily="34" charset="-122"/>
              <a:sym typeface="+mn-ea"/>
            </a:endParaRPr>
          </a:p>
          <a:p>
            <a:r>
              <a:rPr lang="en-US" altLang="zh-CN" sz="1600" dirty="0">
                <a:solidFill>
                  <a:srgbClr val="33495E"/>
                </a:solidFill>
                <a:latin typeface="微软雅黑" pitchFamily="34" charset="-122"/>
                <a:ea typeface="微软雅黑" pitchFamily="34" charset="-122"/>
                <a:sym typeface="+mn-ea"/>
              </a:rPr>
              <a:t>Data analysis</a:t>
            </a:r>
            <a:endParaRPr lang="en-US" altLang="zh-CN" sz="1600" dirty="0">
              <a:solidFill>
                <a:srgbClr val="33495E"/>
              </a:solidFill>
              <a:latin typeface="微软雅黑" pitchFamily="34" charset="-122"/>
              <a:ea typeface="微软雅黑" pitchFamily="34" charset="-122"/>
              <a:sym typeface="+mn-ea"/>
            </a:endParaRPr>
          </a:p>
          <a:p>
            <a:endParaRPr lang="zh-CN" altLang="en-US" sz="1600" dirty="0">
              <a:solidFill>
                <a:srgbClr val="33495E"/>
              </a:solidFill>
              <a:latin typeface="微软雅黑" pitchFamily="34" charset="-122"/>
              <a:ea typeface="微软雅黑" pitchFamily="34" charset="-122"/>
              <a:sym typeface="+mn-ea"/>
            </a:endParaRPr>
          </a:p>
        </p:txBody>
      </p:sp>
      <p:sp>
        <p:nvSpPr>
          <p:cNvPr id="9" name="文本框 11"/>
          <p:cNvSpPr txBox="1"/>
          <p:nvPr/>
        </p:nvSpPr>
        <p:spPr>
          <a:xfrm>
            <a:off x="798765" y="1267549"/>
            <a:ext cx="3251597" cy="807913"/>
          </a:xfrm>
          <a:prstGeom prst="rect">
            <a:avLst/>
          </a:prstGeom>
          <a:noFill/>
        </p:spPr>
        <p:txBody>
          <a:bodyPr wrap="square" lIns="68580" tIns="34290" rIns="68580" bIns="34290" rtlCol="0">
            <a:spAutoFit/>
          </a:bodyPr>
          <a:lstStyle/>
          <a:p>
            <a:r>
              <a:rPr lang="en-US" altLang="zh-CN" sz="4800" dirty="0" smtClean="0">
                <a:solidFill>
                  <a:srgbClr val="33495E"/>
                </a:solidFill>
                <a:latin typeface="微软雅黑" pitchFamily="34" charset="-122"/>
                <a:ea typeface="微软雅黑" pitchFamily="34" charset="-122"/>
                <a:sym typeface="+mn-ea"/>
              </a:rPr>
              <a:t>PART 03</a:t>
            </a:r>
            <a:endParaRPr lang="zh-CN" altLang="en-US" sz="4800" dirty="0">
              <a:solidFill>
                <a:srgbClr val="33495E"/>
              </a:solidFill>
              <a:latin typeface="微软雅黑" pitchFamily="34" charset="-122"/>
              <a:ea typeface="微软雅黑" pitchFamily="34" charset="-122"/>
              <a:sym typeface="+mn-ea"/>
            </a:endParaRPr>
          </a:p>
        </p:txBody>
      </p:sp>
      <p:sp>
        <p:nvSpPr>
          <p:cNvPr id="13" name="矩形 12"/>
          <p:cNvSpPr/>
          <p:nvPr/>
        </p:nvSpPr>
        <p:spPr>
          <a:xfrm>
            <a:off x="901635" y="2898478"/>
            <a:ext cx="620754" cy="28800"/>
          </a:xfrm>
          <a:prstGeom prst="rect">
            <a:avLst/>
          </a:prstGeom>
          <a:solidFill>
            <a:srgbClr val="334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rgbClr val="33495E"/>
              </a:solidFill>
            </a:endParaRPr>
          </a:p>
        </p:txBody>
      </p:sp>
      <p:sp>
        <p:nvSpPr>
          <p:cNvPr id="7" name="文本框 11"/>
          <p:cNvSpPr txBox="1"/>
          <p:nvPr/>
        </p:nvSpPr>
        <p:spPr>
          <a:xfrm>
            <a:off x="5128391" y="1027075"/>
            <a:ext cx="3251597" cy="3131627"/>
          </a:xfrm>
          <a:prstGeom prst="rect">
            <a:avLst/>
          </a:prstGeom>
          <a:noFill/>
        </p:spPr>
        <p:txBody>
          <a:bodyPr wrap="square" lIns="68580" tIns="34290" rIns="68580" bIns="34290" rtlCol="0">
            <a:spAutoFit/>
          </a:bodyPr>
          <a:lstStyle/>
          <a:p>
            <a:r>
              <a:rPr lang="en-US" altLang="zh-CN" sz="19900" i="1" dirty="0" smtClean="0">
                <a:solidFill>
                  <a:srgbClr val="DCE3E8"/>
                </a:solidFill>
                <a:latin typeface="微软雅黑" pitchFamily="34" charset="-122"/>
                <a:ea typeface="微软雅黑" pitchFamily="34" charset="-122"/>
                <a:sym typeface="+mn-ea"/>
              </a:rPr>
              <a:t>03</a:t>
            </a:r>
            <a:endParaRPr lang="zh-CN" altLang="en-US" sz="19900" i="1" dirty="0">
              <a:solidFill>
                <a:srgbClr val="DCE3E8"/>
              </a:solidFill>
              <a:latin typeface="微软雅黑" pitchFamily="34" charset="-122"/>
              <a:ea typeface="微软雅黑"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QQ_1742485732687"/>
          <p:cNvPicPr>
            <a:picLocks noChangeAspect="1"/>
          </p:cNvPicPr>
          <p:nvPr/>
        </p:nvPicPr>
        <p:blipFill>
          <a:blip r:embed="rId1"/>
          <a:stretch>
            <a:fillRect/>
          </a:stretch>
        </p:blipFill>
        <p:spPr>
          <a:xfrm>
            <a:off x="497205" y="1033145"/>
            <a:ext cx="8149590" cy="1538605"/>
          </a:xfrm>
          <a:prstGeom prst="rect">
            <a:avLst/>
          </a:prstGeom>
        </p:spPr>
      </p:pic>
      <p:pic>
        <p:nvPicPr>
          <p:cNvPr id="7" name="图片 6" descr="QQ_1742485834355"/>
          <p:cNvPicPr>
            <a:picLocks noChangeAspect="1"/>
          </p:cNvPicPr>
          <p:nvPr/>
        </p:nvPicPr>
        <p:blipFill>
          <a:blip r:embed="rId2"/>
          <a:stretch>
            <a:fillRect/>
          </a:stretch>
        </p:blipFill>
        <p:spPr>
          <a:xfrm>
            <a:off x="2254250" y="2106295"/>
            <a:ext cx="4635144" cy="2624400"/>
          </a:xfrm>
          <a:prstGeom prst="rect">
            <a:avLst/>
          </a:prstGeom>
        </p:spPr>
      </p:pic>
      <p:sp>
        <p:nvSpPr>
          <p:cNvPr id="8" name="文本框 10"/>
          <p:cNvSpPr txBox="1"/>
          <p:nvPr/>
        </p:nvSpPr>
        <p:spPr>
          <a:xfrm>
            <a:off x="2998252" y="448753"/>
            <a:ext cx="2862055"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数据分析</a:t>
            </a:r>
            <a:endParaRPr lang="en-US" altLang="zh-CN"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Data analysis</a:t>
            </a:r>
            <a:endParaRPr lang="en-US" altLang="zh-CN" sz="1000" dirty="0">
              <a:solidFill>
                <a:srgbClr val="33495E"/>
              </a:solidFill>
              <a:latin typeface="微软雅黑" pitchFamily="34" charset="-122"/>
              <a:ea typeface="微软雅黑"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0"/>
          <p:cNvSpPr txBox="1"/>
          <p:nvPr/>
        </p:nvSpPr>
        <p:spPr>
          <a:xfrm>
            <a:off x="2998252" y="514793"/>
            <a:ext cx="2862055"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数据分析</a:t>
            </a:r>
            <a:endParaRPr lang="en-US" altLang="zh-CN"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Data analysis</a:t>
            </a:r>
            <a:endParaRPr lang="en-US" altLang="zh-CN" sz="1000" dirty="0">
              <a:solidFill>
                <a:srgbClr val="33495E"/>
              </a:solidFill>
              <a:latin typeface="微软雅黑" pitchFamily="34" charset="-122"/>
              <a:ea typeface="微软雅黑" pitchFamily="34" charset="-122"/>
              <a:sym typeface="+mn-ea"/>
            </a:endParaRPr>
          </a:p>
        </p:txBody>
      </p:sp>
      <p:pic>
        <p:nvPicPr>
          <p:cNvPr id="5" name="图片 5" descr="QQ_1742388306351"/>
          <p:cNvPicPr>
            <a:picLocks noChangeAspect="1"/>
          </p:cNvPicPr>
          <p:nvPr/>
        </p:nvPicPr>
        <p:blipFill>
          <a:blip r:embed="rId1"/>
          <a:stretch>
            <a:fillRect/>
          </a:stretch>
        </p:blipFill>
        <p:spPr>
          <a:xfrm>
            <a:off x="1860550" y="1174750"/>
            <a:ext cx="5274310" cy="1938020"/>
          </a:xfrm>
          <a:prstGeom prst="rect">
            <a:avLst/>
          </a:prstGeom>
        </p:spPr>
      </p:pic>
      <p:sp>
        <p:nvSpPr>
          <p:cNvPr id="3" name="文本框 2"/>
          <p:cNvSpPr txBox="1"/>
          <p:nvPr/>
        </p:nvSpPr>
        <p:spPr>
          <a:xfrm>
            <a:off x="2180590" y="3364865"/>
            <a:ext cx="4782820" cy="953135"/>
          </a:xfrm>
          <a:prstGeom prst="rect">
            <a:avLst/>
          </a:prstGeom>
          <a:noFill/>
        </p:spPr>
        <p:txBody>
          <a:bodyPr wrap="square" rtlCol="0">
            <a:spAutoFit/>
          </a:bodyPr>
          <a:p>
            <a:r>
              <a:rPr lang="zh-CN" altLang="en-US"/>
              <a:t>感知有用性：总体得分较高（均值</a:t>
            </a:r>
            <a:r>
              <a:rPr lang="en-US" altLang="zh-CN"/>
              <a:t>5.963</a:t>
            </a:r>
            <a:r>
              <a:rPr lang="zh-CN" altLang="en-US"/>
              <a:t>，标准差</a:t>
            </a:r>
            <a:r>
              <a:rPr lang="en-US" altLang="zh-CN"/>
              <a:t>0.59</a:t>
            </a:r>
            <a:r>
              <a:rPr lang="zh-CN" altLang="en-US"/>
              <a:t>），用户普遍认可数据复用的价值。</a:t>
            </a:r>
            <a:endParaRPr lang="zh-CN" altLang="en-US"/>
          </a:p>
          <a:p>
            <a:r>
              <a:rPr lang="zh-CN" altLang="en-US"/>
              <a:t>复用难度：任务难度感知中等偏高（均值</a:t>
            </a:r>
            <a:r>
              <a:rPr lang="en-US" altLang="zh-CN"/>
              <a:t>5.59</a:t>
            </a:r>
            <a:r>
              <a:rPr lang="zh-CN" altLang="en-US"/>
              <a:t>，标准差</a:t>
            </a:r>
            <a:r>
              <a:rPr lang="en-US" altLang="zh-CN"/>
              <a:t>1.05</a:t>
            </a:r>
            <a:r>
              <a:rPr lang="zh-CN" altLang="en-US"/>
              <a:t>），个体差异显著。</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0"/>
          <p:cNvSpPr txBox="1"/>
          <p:nvPr/>
        </p:nvSpPr>
        <p:spPr>
          <a:xfrm>
            <a:off x="2998252" y="514793"/>
            <a:ext cx="2862055"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数据分析</a:t>
            </a:r>
            <a:endParaRPr lang="en-US" altLang="zh-CN"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Data analysis</a:t>
            </a:r>
            <a:endParaRPr lang="en-US" altLang="zh-CN" sz="1000" dirty="0">
              <a:solidFill>
                <a:srgbClr val="33495E"/>
              </a:solidFill>
              <a:latin typeface="微软雅黑" pitchFamily="34" charset="-122"/>
              <a:ea typeface="微软雅黑" pitchFamily="34" charset="-122"/>
              <a:sym typeface="+mn-ea"/>
            </a:endParaRPr>
          </a:p>
        </p:txBody>
      </p:sp>
      <p:pic>
        <p:nvPicPr>
          <p:cNvPr id="6" name="图片 6" descr="QQ_1742442317278"/>
          <p:cNvPicPr>
            <a:picLocks noChangeAspect="1"/>
          </p:cNvPicPr>
          <p:nvPr/>
        </p:nvPicPr>
        <p:blipFill>
          <a:blip r:embed="rId1"/>
          <a:stretch>
            <a:fillRect/>
          </a:stretch>
        </p:blipFill>
        <p:spPr>
          <a:xfrm>
            <a:off x="267018" y="970915"/>
            <a:ext cx="5272405" cy="1924050"/>
          </a:xfrm>
          <a:prstGeom prst="rect">
            <a:avLst/>
          </a:prstGeom>
        </p:spPr>
      </p:pic>
      <p:pic>
        <p:nvPicPr>
          <p:cNvPr id="7" name="图片 7" descr="QQ_1742442393626"/>
          <p:cNvPicPr>
            <a:picLocks noChangeAspect="1"/>
          </p:cNvPicPr>
          <p:nvPr/>
        </p:nvPicPr>
        <p:blipFill>
          <a:blip r:embed="rId2"/>
          <a:stretch>
            <a:fillRect/>
          </a:stretch>
        </p:blipFill>
        <p:spPr>
          <a:xfrm>
            <a:off x="5259705" y="1268095"/>
            <a:ext cx="3762359" cy="3589200"/>
          </a:xfrm>
          <a:prstGeom prst="rect">
            <a:avLst/>
          </a:prstGeom>
        </p:spPr>
      </p:pic>
      <p:sp>
        <p:nvSpPr>
          <p:cNvPr id="3" name="文本框 2"/>
          <p:cNvSpPr txBox="1"/>
          <p:nvPr/>
        </p:nvSpPr>
        <p:spPr>
          <a:xfrm>
            <a:off x="668655" y="3035935"/>
            <a:ext cx="3903345" cy="1599565"/>
          </a:xfrm>
          <a:prstGeom prst="rect">
            <a:avLst/>
          </a:prstGeom>
          <a:noFill/>
        </p:spPr>
        <p:txBody>
          <a:bodyPr wrap="square" rtlCol="0">
            <a:spAutoFit/>
          </a:bodyPr>
          <a:p>
            <a:r>
              <a:rPr lang="zh-CN" altLang="en-US"/>
              <a:t>感知有用性：三组存在显著差异（</a:t>
            </a:r>
            <a:r>
              <a:rPr lang="en-US" altLang="zh-CN"/>
              <a:t>F(2,57)=6.20, p=0.004, η</a:t>
            </a:r>
            <a:r>
              <a:rPr lang="en-US" altLang="en-US"/>
              <a:t>²</a:t>
            </a:r>
            <a:r>
              <a:rPr lang="en-US" altLang="zh-CN"/>
              <a:t>=0.179</a:t>
            </a:r>
            <a:r>
              <a:rPr lang="zh-CN" altLang="en-US"/>
              <a:t>），第三组得分最高（均值</a:t>
            </a:r>
            <a:r>
              <a:rPr lang="en-US" altLang="zh-CN"/>
              <a:t>6.64</a:t>
            </a:r>
            <a:r>
              <a:rPr lang="zh-CN" altLang="en-US"/>
              <a:t>），显著高于第一组（</a:t>
            </a:r>
            <a:r>
              <a:rPr lang="en-US" altLang="zh-CN"/>
              <a:t>6.13</a:t>
            </a:r>
            <a:r>
              <a:rPr lang="zh-CN" altLang="en-US"/>
              <a:t>）和第二组（</a:t>
            </a:r>
            <a:r>
              <a:rPr lang="en-US" altLang="zh-CN"/>
              <a:t>6.10</a:t>
            </a:r>
            <a:r>
              <a:rPr lang="zh-CN" altLang="en-US"/>
              <a:t>）。</a:t>
            </a:r>
            <a:endParaRPr lang="zh-CN" altLang="en-US"/>
          </a:p>
          <a:p>
            <a:r>
              <a:rPr lang="zh-CN" altLang="en-US"/>
              <a:t>复用难度：三组差异显著（</a:t>
            </a:r>
            <a:r>
              <a:rPr lang="en-US" altLang="zh-CN"/>
              <a:t>F(2,57)=4.98, p=0.010, η</a:t>
            </a:r>
            <a:r>
              <a:rPr lang="en-US" altLang="en-US"/>
              <a:t>²</a:t>
            </a:r>
            <a:r>
              <a:rPr lang="en-US" altLang="zh-CN"/>
              <a:t>=0.149</a:t>
            </a:r>
            <a:r>
              <a:rPr lang="zh-CN" altLang="en-US"/>
              <a:t>），第三组复用难度最高（均值</a:t>
            </a:r>
            <a:r>
              <a:rPr lang="en-US" altLang="zh-CN"/>
              <a:t>5.05</a:t>
            </a:r>
            <a:r>
              <a:rPr lang="zh-CN" altLang="en-US"/>
              <a:t>）。</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0"/>
          <p:cNvSpPr txBox="1"/>
          <p:nvPr/>
        </p:nvSpPr>
        <p:spPr>
          <a:xfrm>
            <a:off x="2998252" y="514793"/>
            <a:ext cx="2862055"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数据分析</a:t>
            </a:r>
            <a:endParaRPr lang="en-US" altLang="zh-CN"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Data analysis</a:t>
            </a:r>
            <a:endParaRPr lang="en-US" altLang="zh-CN" sz="1000" dirty="0">
              <a:solidFill>
                <a:srgbClr val="33495E"/>
              </a:solidFill>
              <a:latin typeface="微软雅黑" pitchFamily="34" charset="-122"/>
              <a:ea typeface="微软雅黑" pitchFamily="34" charset="-122"/>
              <a:sym typeface="+mn-ea"/>
            </a:endParaRPr>
          </a:p>
        </p:txBody>
      </p:sp>
      <p:pic>
        <p:nvPicPr>
          <p:cNvPr id="9" name="图片 9" descr="QQ_1742446188333"/>
          <p:cNvPicPr>
            <a:picLocks noChangeAspect="1"/>
          </p:cNvPicPr>
          <p:nvPr/>
        </p:nvPicPr>
        <p:blipFill>
          <a:blip r:embed="rId1"/>
          <a:stretch>
            <a:fillRect/>
          </a:stretch>
        </p:blipFill>
        <p:spPr>
          <a:xfrm>
            <a:off x="1046480" y="1036955"/>
            <a:ext cx="7150517" cy="1368000"/>
          </a:xfrm>
          <a:prstGeom prst="rect">
            <a:avLst/>
          </a:prstGeom>
        </p:spPr>
      </p:pic>
      <p:pic>
        <p:nvPicPr>
          <p:cNvPr id="10" name="图片 10" descr="QQ_1742446210062"/>
          <p:cNvPicPr>
            <a:picLocks noChangeAspect="1"/>
          </p:cNvPicPr>
          <p:nvPr/>
        </p:nvPicPr>
        <p:blipFill>
          <a:blip r:embed="rId2"/>
          <a:stretch>
            <a:fillRect/>
          </a:stretch>
        </p:blipFill>
        <p:spPr>
          <a:xfrm>
            <a:off x="777240" y="2522855"/>
            <a:ext cx="3369875" cy="1915200"/>
          </a:xfrm>
          <a:prstGeom prst="rect">
            <a:avLst/>
          </a:prstGeom>
        </p:spPr>
      </p:pic>
      <p:sp>
        <p:nvSpPr>
          <p:cNvPr id="3" name="文本框 2"/>
          <p:cNvSpPr txBox="1"/>
          <p:nvPr/>
        </p:nvSpPr>
        <p:spPr>
          <a:xfrm>
            <a:off x="4427855" y="3179445"/>
            <a:ext cx="4010025" cy="737235"/>
          </a:xfrm>
          <a:prstGeom prst="rect">
            <a:avLst/>
          </a:prstGeom>
          <a:noFill/>
        </p:spPr>
        <p:txBody>
          <a:bodyPr wrap="square" rtlCol="0">
            <a:spAutoFit/>
          </a:bodyPr>
          <a:p>
            <a:r>
              <a:rPr lang="zh-CN" altLang="en-US"/>
              <a:t>第一组用户表现出更高的认可度（如</a:t>
            </a:r>
            <a:r>
              <a:rPr lang="en-US" altLang="zh-CN"/>
              <a:t>6.00</a:t>
            </a:r>
            <a:r>
              <a:rPr lang="zh-CN" altLang="en-US"/>
              <a:t>分占比</a:t>
            </a:r>
            <a:r>
              <a:rPr lang="en-US" altLang="zh-CN"/>
              <a:t>50%</a:t>
            </a:r>
            <a:r>
              <a:rPr lang="zh-CN" altLang="en-US"/>
              <a:t>），但组间差异未达统计显著（</a:t>
            </a:r>
            <a:r>
              <a:rPr lang="en-US" altLang="zh-CN"/>
              <a:t>p=0.220</a:t>
            </a:r>
            <a:r>
              <a:rPr lang="zh-CN" altLang="en-US"/>
              <a:t>），可能受稀疏单元格影响。</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0"/>
          <p:cNvSpPr txBox="1"/>
          <p:nvPr/>
        </p:nvSpPr>
        <p:spPr>
          <a:xfrm>
            <a:off x="2998252" y="514793"/>
            <a:ext cx="2862055"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数据分析</a:t>
            </a:r>
            <a:endParaRPr lang="en-US" altLang="zh-CN"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Data analysis</a:t>
            </a:r>
            <a:endParaRPr lang="en-US" altLang="zh-CN" sz="1000" dirty="0">
              <a:solidFill>
                <a:srgbClr val="33495E"/>
              </a:solidFill>
              <a:latin typeface="微软雅黑" pitchFamily="34" charset="-122"/>
              <a:ea typeface="微软雅黑" pitchFamily="34" charset="-122"/>
              <a:sym typeface="+mn-ea"/>
            </a:endParaRPr>
          </a:p>
        </p:txBody>
      </p:sp>
      <p:pic>
        <p:nvPicPr>
          <p:cNvPr id="11" name="图片 11" descr="QQ_1742446229454"/>
          <p:cNvPicPr>
            <a:picLocks noChangeAspect="1"/>
          </p:cNvPicPr>
          <p:nvPr/>
        </p:nvPicPr>
        <p:blipFill>
          <a:blip r:embed="rId1"/>
          <a:stretch>
            <a:fillRect/>
          </a:stretch>
        </p:blipFill>
        <p:spPr>
          <a:xfrm>
            <a:off x="1584960" y="1131570"/>
            <a:ext cx="5688754" cy="1440000"/>
          </a:xfrm>
          <a:prstGeom prst="rect">
            <a:avLst/>
          </a:prstGeom>
        </p:spPr>
      </p:pic>
      <p:pic>
        <p:nvPicPr>
          <p:cNvPr id="12" name="图片 12" descr="QQ_1742446259612"/>
          <p:cNvPicPr>
            <a:picLocks noChangeAspect="1"/>
          </p:cNvPicPr>
          <p:nvPr/>
        </p:nvPicPr>
        <p:blipFill>
          <a:blip r:embed="rId2"/>
          <a:stretch>
            <a:fillRect/>
          </a:stretch>
        </p:blipFill>
        <p:spPr>
          <a:xfrm>
            <a:off x="936625" y="2740978"/>
            <a:ext cx="2588820" cy="1440000"/>
          </a:xfrm>
          <a:prstGeom prst="rect">
            <a:avLst/>
          </a:prstGeom>
        </p:spPr>
      </p:pic>
      <p:sp>
        <p:nvSpPr>
          <p:cNvPr id="3" name="文本框 2"/>
          <p:cNvSpPr txBox="1"/>
          <p:nvPr/>
        </p:nvSpPr>
        <p:spPr>
          <a:xfrm>
            <a:off x="3630295" y="3328035"/>
            <a:ext cx="4848225" cy="521970"/>
          </a:xfrm>
          <a:prstGeom prst="rect">
            <a:avLst/>
          </a:prstGeom>
          <a:noFill/>
        </p:spPr>
        <p:txBody>
          <a:bodyPr wrap="square" rtlCol="0">
            <a:spAutoFit/>
          </a:bodyPr>
          <a:p>
            <a:r>
              <a:rPr lang="zh-CN" altLang="en-US"/>
              <a:t>第三组用户对任务难度的感知更高（如</a:t>
            </a:r>
            <a:r>
              <a:rPr lang="en-US" altLang="zh-CN"/>
              <a:t>2.00</a:t>
            </a:r>
            <a:r>
              <a:rPr lang="zh-CN" altLang="en-US"/>
              <a:t>分占比</a:t>
            </a:r>
            <a:r>
              <a:rPr lang="en-US" altLang="zh-CN"/>
              <a:t>10%</a:t>
            </a:r>
            <a:r>
              <a:rPr lang="zh-CN" altLang="en-US"/>
              <a:t>）。</a:t>
            </a:r>
            <a:endParaRPr lang="zh-CN" altLang="en-US"/>
          </a:p>
          <a:p>
            <a:r>
              <a:rPr lang="zh-CN" altLang="en-US"/>
              <a:t>其他两组差异并不明显</a:t>
            </a:r>
            <a:r>
              <a:rPr lang="en-US" altLang="zh-CN"/>
              <a:t>。</a:t>
            </a:r>
            <a:endParaRPr lang="en-US" altLang="zh-CN"/>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0"/>
          <p:cNvSpPr txBox="1"/>
          <p:nvPr/>
        </p:nvSpPr>
        <p:spPr>
          <a:xfrm>
            <a:off x="2998252" y="514793"/>
            <a:ext cx="2862055"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数据分析</a:t>
            </a:r>
            <a:endParaRPr lang="en-US" altLang="zh-CN"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Data analysis</a:t>
            </a:r>
            <a:endParaRPr lang="en-US" altLang="zh-CN" sz="1000" dirty="0">
              <a:solidFill>
                <a:srgbClr val="33495E"/>
              </a:solidFill>
              <a:latin typeface="微软雅黑" pitchFamily="34" charset="-122"/>
              <a:ea typeface="微软雅黑" pitchFamily="34" charset="-122"/>
              <a:sym typeface="+mn-ea"/>
            </a:endParaRPr>
          </a:p>
        </p:txBody>
      </p:sp>
      <p:pic>
        <p:nvPicPr>
          <p:cNvPr id="-2147482620" name="图片 14" descr="QQ_1742456108472"/>
          <p:cNvPicPr>
            <a:picLocks noChangeAspect="1"/>
          </p:cNvPicPr>
          <p:nvPr/>
        </p:nvPicPr>
        <p:blipFill>
          <a:blip r:embed="rId1"/>
          <a:stretch>
            <a:fillRect/>
          </a:stretch>
        </p:blipFill>
        <p:spPr>
          <a:xfrm>
            <a:off x="1421448" y="2035493"/>
            <a:ext cx="3742658" cy="1332000"/>
          </a:xfrm>
          <a:prstGeom prst="rect">
            <a:avLst/>
          </a:prstGeom>
          <a:noFill/>
          <a:ln w="9525">
            <a:noFill/>
          </a:ln>
        </p:spPr>
      </p:pic>
      <p:pic>
        <p:nvPicPr>
          <p:cNvPr id="-2147482619" name="图片 15" descr="QQ_1742456129014"/>
          <p:cNvPicPr>
            <a:picLocks noChangeAspect="1"/>
          </p:cNvPicPr>
          <p:nvPr/>
        </p:nvPicPr>
        <p:blipFill>
          <a:blip r:embed="rId2"/>
          <a:stretch>
            <a:fillRect/>
          </a:stretch>
        </p:blipFill>
        <p:spPr>
          <a:xfrm>
            <a:off x="379730" y="3367405"/>
            <a:ext cx="4784090" cy="1440180"/>
          </a:xfrm>
          <a:prstGeom prst="rect">
            <a:avLst/>
          </a:prstGeom>
          <a:noFill/>
          <a:ln w="9525">
            <a:noFill/>
          </a:ln>
        </p:spPr>
      </p:pic>
      <p:pic>
        <p:nvPicPr>
          <p:cNvPr id="13" name="图片 13" descr="QQ_1742456079661"/>
          <p:cNvPicPr>
            <a:picLocks noChangeAspect="1"/>
          </p:cNvPicPr>
          <p:nvPr/>
        </p:nvPicPr>
        <p:blipFill>
          <a:blip r:embed="rId3"/>
          <a:stretch>
            <a:fillRect/>
          </a:stretch>
        </p:blipFill>
        <p:spPr>
          <a:xfrm>
            <a:off x="421005" y="1063943"/>
            <a:ext cx="3259636" cy="972000"/>
          </a:xfrm>
          <a:prstGeom prst="rect">
            <a:avLst/>
          </a:prstGeom>
        </p:spPr>
      </p:pic>
      <p:sp>
        <p:nvSpPr>
          <p:cNvPr id="4" name="文本框 3"/>
          <p:cNvSpPr txBox="1"/>
          <p:nvPr/>
        </p:nvSpPr>
        <p:spPr>
          <a:xfrm>
            <a:off x="766445" y="802640"/>
            <a:ext cx="3048000" cy="306705"/>
          </a:xfrm>
          <a:prstGeom prst="rect">
            <a:avLst/>
          </a:prstGeom>
          <a:noFill/>
        </p:spPr>
        <p:txBody>
          <a:bodyPr wrap="square" rtlCol="0">
            <a:spAutoFit/>
          </a:bodyPr>
          <a:p>
            <a:r>
              <a:rPr lang="zh-CN" altLang="en-US"/>
              <a:t>回归</a:t>
            </a:r>
            <a:r>
              <a:rPr lang="zh-CN" altLang="en-US"/>
              <a:t>分析</a:t>
            </a:r>
            <a:endParaRPr lang="zh-CN" altLang="en-US"/>
          </a:p>
        </p:txBody>
      </p:sp>
      <p:sp>
        <p:nvSpPr>
          <p:cNvPr id="5" name="文本框 4"/>
          <p:cNvSpPr txBox="1"/>
          <p:nvPr/>
        </p:nvSpPr>
        <p:spPr>
          <a:xfrm>
            <a:off x="3679825" y="1167765"/>
            <a:ext cx="5119370" cy="737235"/>
          </a:xfrm>
          <a:prstGeom prst="rect">
            <a:avLst/>
          </a:prstGeom>
          <a:noFill/>
        </p:spPr>
        <p:txBody>
          <a:bodyPr wrap="square" rtlCol="0">
            <a:spAutoFit/>
          </a:bodyPr>
          <a:p>
            <a:r>
              <a:rPr lang="zh-CN" altLang="en-US"/>
              <a:t>因变量：感知有用性总</a:t>
            </a:r>
            <a:endParaRPr lang="zh-CN" altLang="en-US"/>
          </a:p>
          <a:p>
            <a:r>
              <a:rPr lang="zh-CN" altLang="en-US"/>
              <a:t>自变量：分组哑变量（以第一组为参考组，比较第二组、第三组与第一组的差异）。</a:t>
            </a:r>
            <a:endParaRPr lang="zh-CN" altLang="en-US"/>
          </a:p>
        </p:txBody>
      </p:sp>
      <p:sp>
        <p:nvSpPr>
          <p:cNvPr id="6" name="文本框 5"/>
          <p:cNvSpPr txBox="1"/>
          <p:nvPr/>
        </p:nvSpPr>
        <p:spPr>
          <a:xfrm>
            <a:off x="5259070" y="2274570"/>
            <a:ext cx="3540125" cy="737235"/>
          </a:xfrm>
          <a:prstGeom prst="rect">
            <a:avLst/>
          </a:prstGeom>
          <a:noFill/>
        </p:spPr>
        <p:txBody>
          <a:bodyPr wrap="square" rtlCol="0">
            <a:spAutoFit/>
          </a:bodyPr>
          <a:p>
            <a:r>
              <a:rPr lang="en-US" altLang="zh-CN"/>
              <a:t>F(2,57)=6.200, p=0.004</a:t>
            </a:r>
            <a:r>
              <a:rPr lang="zh-CN" altLang="en-US"/>
              <a:t>：模型整体显著，说明第二组和第三组与第一组的差异对感知有用性有统计学意义的联合影响。</a:t>
            </a:r>
            <a:endParaRPr lang="zh-CN" altLang="en-US"/>
          </a:p>
        </p:txBody>
      </p:sp>
      <p:sp>
        <p:nvSpPr>
          <p:cNvPr id="7" name="文本框 6"/>
          <p:cNvSpPr txBox="1"/>
          <p:nvPr/>
        </p:nvSpPr>
        <p:spPr>
          <a:xfrm>
            <a:off x="5106035" y="3381375"/>
            <a:ext cx="3636010" cy="2729230"/>
          </a:xfrm>
          <a:prstGeom prst="rect">
            <a:avLst/>
          </a:prstGeom>
          <a:noFill/>
        </p:spPr>
        <p:txBody>
          <a:bodyPr wrap="square" rtlCol="0">
            <a:noAutofit/>
          </a:bodyPr>
          <a:p>
            <a:r>
              <a:rPr lang="zh-CN" altLang="en-US"/>
              <a:t>不同实验组对用户感知有用性存在显著差异。</a:t>
            </a:r>
            <a:endParaRPr lang="zh-CN" altLang="en-US"/>
          </a:p>
          <a:p>
            <a:r>
              <a:rPr lang="zh-CN" altLang="en-US"/>
              <a:t>第三组的感知有用性得分比第一组低</a:t>
            </a:r>
            <a:r>
              <a:rPr lang="en-US" altLang="zh-CN"/>
              <a:t>0.513</a:t>
            </a:r>
            <a:r>
              <a:rPr lang="zh-CN" altLang="en-US"/>
              <a:t>分（</a:t>
            </a:r>
            <a:r>
              <a:rPr lang="en-US" altLang="zh-CN"/>
              <a:t>p=0.004</a:t>
            </a:r>
            <a:r>
              <a:rPr lang="zh-CN" altLang="en-US"/>
              <a:t>），效应量较大，可能因其社交线索设计（如印象型发布者线索）增加了用户认知负担</a:t>
            </a:r>
            <a:r>
              <a:rPr lang="en-US" altLang="zh-CN"/>
              <a:t>，</a:t>
            </a:r>
            <a:r>
              <a:rPr lang="zh-CN" altLang="en-US"/>
              <a:t>参考重要度较低</a:t>
            </a:r>
            <a:r>
              <a:rPr lang="en-US" altLang="zh-CN"/>
              <a:t>，</a:t>
            </a:r>
            <a:r>
              <a:rPr lang="zh-CN" altLang="en-US"/>
              <a:t>降低了数据可信度。</a:t>
            </a: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0"/>
          <p:cNvSpPr txBox="1"/>
          <p:nvPr/>
        </p:nvSpPr>
        <p:spPr>
          <a:xfrm>
            <a:off x="2998252" y="514793"/>
            <a:ext cx="2862055" cy="521970"/>
          </a:xfrm>
          <a:prstGeom prst="rect">
            <a:avLst/>
          </a:prstGeom>
          <a:noFill/>
        </p:spPr>
        <p:txBody>
          <a:bodyPr wrap="square" rtlCol="0">
            <a:spAutoFit/>
          </a:bodyPr>
          <a:p>
            <a:pPr algn="ctr"/>
            <a:r>
              <a:rPr lang="zh-CN" altLang="en-US" sz="1800" dirty="0" smtClean="0">
                <a:solidFill>
                  <a:srgbClr val="33495E"/>
                </a:solidFill>
                <a:latin typeface="微软雅黑" pitchFamily="34" charset="-122"/>
                <a:ea typeface="微软雅黑" pitchFamily="34" charset="-122"/>
                <a:sym typeface="+mn-ea"/>
              </a:rPr>
              <a:t>数据分析</a:t>
            </a:r>
            <a:endParaRPr lang="en-US" altLang="zh-CN" sz="1800" dirty="0" smtClean="0">
              <a:solidFill>
                <a:srgbClr val="33495E"/>
              </a:solidFill>
              <a:latin typeface="微软雅黑" pitchFamily="34" charset="-122"/>
              <a:ea typeface="微软雅黑" pitchFamily="34" charset="-122"/>
              <a:sym typeface="+mn-ea"/>
            </a:endParaRPr>
          </a:p>
          <a:p>
            <a:pPr algn="ctr"/>
            <a:r>
              <a:rPr lang="en-US" altLang="zh-CN" sz="1000" dirty="0">
                <a:solidFill>
                  <a:srgbClr val="33495E"/>
                </a:solidFill>
                <a:latin typeface="微软雅黑" pitchFamily="34" charset="-122"/>
                <a:ea typeface="微软雅黑" pitchFamily="34" charset="-122"/>
                <a:sym typeface="+mn-ea"/>
              </a:rPr>
              <a:t>Data analysis</a:t>
            </a:r>
            <a:endParaRPr lang="en-US" altLang="zh-CN" sz="1000" dirty="0">
              <a:solidFill>
                <a:srgbClr val="33495E"/>
              </a:solidFill>
              <a:latin typeface="微软雅黑" pitchFamily="34" charset="-122"/>
              <a:ea typeface="微软雅黑" pitchFamily="34" charset="-122"/>
              <a:sym typeface="+mn-ea"/>
            </a:endParaRPr>
          </a:p>
        </p:txBody>
      </p:sp>
      <p:pic>
        <p:nvPicPr>
          <p:cNvPr id="17" name="图片 17" descr="QQ_1742462680960"/>
          <p:cNvPicPr>
            <a:picLocks noChangeAspect="1"/>
          </p:cNvPicPr>
          <p:nvPr/>
        </p:nvPicPr>
        <p:blipFill>
          <a:blip r:embed="rId1"/>
          <a:stretch>
            <a:fillRect/>
          </a:stretch>
        </p:blipFill>
        <p:spPr>
          <a:xfrm>
            <a:off x="345123" y="1662748"/>
            <a:ext cx="4117692" cy="1281600"/>
          </a:xfrm>
          <a:prstGeom prst="rect">
            <a:avLst/>
          </a:prstGeom>
        </p:spPr>
      </p:pic>
      <p:pic>
        <p:nvPicPr>
          <p:cNvPr id="18" name="图片 18" descr="QQ_1742462712769"/>
          <p:cNvPicPr>
            <a:picLocks noChangeAspect="1"/>
          </p:cNvPicPr>
          <p:nvPr/>
        </p:nvPicPr>
        <p:blipFill>
          <a:blip r:embed="rId2"/>
          <a:stretch>
            <a:fillRect/>
          </a:stretch>
        </p:blipFill>
        <p:spPr>
          <a:xfrm>
            <a:off x="345123" y="3411855"/>
            <a:ext cx="4211641" cy="1432800"/>
          </a:xfrm>
          <a:prstGeom prst="rect">
            <a:avLst/>
          </a:prstGeom>
        </p:spPr>
      </p:pic>
      <p:pic>
        <p:nvPicPr>
          <p:cNvPr id="19" name="图片 19" descr="QQ_1742462729892"/>
          <p:cNvPicPr>
            <a:picLocks noChangeAspect="1"/>
          </p:cNvPicPr>
          <p:nvPr/>
        </p:nvPicPr>
        <p:blipFill>
          <a:blip r:embed="rId3"/>
          <a:stretch>
            <a:fillRect/>
          </a:stretch>
        </p:blipFill>
        <p:spPr>
          <a:xfrm>
            <a:off x="4739640" y="1287780"/>
            <a:ext cx="3784241" cy="918000"/>
          </a:xfrm>
          <a:prstGeom prst="rect">
            <a:avLst/>
          </a:prstGeom>
        </p:spPr>
      </p:pic>
      <p:sp>
        <p:nvSpPr>
          <p:cNvPr id="3" name="文本框 2"/>
          <p:cNvSpPr txBox="1"/>
          <p:nvPr/>
        </p:nvSpPr>
        <p:spPr>
          <a:xfrm>
            <a:off x="438785" y="1356360"/>
            <a:ext cx="3499485" cy="306705"/>
          </a:xfrm>
          <a:prstGeom prst="rect">
            <a:avLst/>
          </a:prstGeom>
          <a:noFill/>
        </p:spPr>
        <p:txBody>
          <a:bodyPr wrap="square" rtlCol="0">
            <a:spAutoFit/>
          </a:bodyPr>
          <a:p>
            <a:r>
              <a:rPr lang="zh-CN" altLang="en-US"/>
              <a:t>分组（</a:t>
            </a:r>
            <a:r>
              <a:rPr lang="en-US" altLang="zh-CN"/>
              <a:t>X</a:t>
            </a:r>
            <a:r>
              <a:rPr lang="zh-CN" altLang="en-US"/>
              <a:t>）对感知有用性（</a:t>
            </a:r>
            <a:r>
              <a:rPr lang="en-US" altLang="zh-CN"/>
              <a:t>M</a:t>
            </a:r>
            <a:r>
              <a:rPr lang="zh-CN" altLang="en-US"/>
              <a:t>）的影响：</a:t>
            </a:r>
            <a:endParaRPr lang="zh-CN" altLang="en-US"/>
          </a:p>
        </p:txBody>
      </p:sp>
      <p:sp>
        <p:nvSpPr>
          <p:cNvPr id="4" name="文本框 3"/>
          <p:cNvSpPr txBox="1"/>
          <p:nvPr/>
        </p:nvSpPr>
        <p:spPr>
          <a:xfrm>
            <a:off x="438785" y="2889885"/>
            <a:ext cx="3783330" cy="521970"/>
          </a:xfrm>
          <a:prstGeom prst="rect">
            <a:avLst/>
          </a:prstGeom>
          <a:noFill/>
        </p:spPr>
        <p:txBody>
          <a:bodyPr wrap="square" rtlCol="0">
            <a:spAutoFit/>
          </a:bodyPr>
          <a:p>
            <a:r>
              <a:rPr lang="zh-CN" altLang="en-US"/>
              <a:t>分组（</a:t>
            </a:r>
            <a:r>
              <a:rPr lang="en-US" altLang="zh-CN"/>
              <a:t>X</a:t>
            </a:r>
            <a:r>
              <a:rPr lang="zh-CN" altLang="en-US"/>
              <a:t>）和感知有用性（</a:t>
            </a:r>
            <a:r>
              <a:rPr lang="en-US" altLang="zh-CN"/>
              <a:t>M</a:t>
            </a:r>
            <a:r>
              <a:rPr lang="zh-CN" altLang="en-US"/>
              <a:t>）对复用难度</a:t>
            </a:r>
            <a:r>
              <a:rPr lang="en-US" altLang="zh-CN"/>
              <a:t>/</a:t>
            </a:r>
            <a:r>
              <a:rPr lang="zh-CN" altLang="en-US"/>
              <a:t>绩效（</a:t>
            </a:r>
            <a:r>
              <a:rPr lang="en-US" altLang="zh-CN"/>
              <a:t>Y</a:t>
            </a:r>
            <a:r>
              <a:rPr lang="zh-CN" altLang="en-US"/>
              <a:t>）的影响：</a:t>
            </a:r>
            <a:endParaRPr lang="zh-CN" altLang="en-US"/>
          </a:p>
        </p:txBody>
      </p:sp>
      <p:sp>
        <p:nvSpPr>
          <p:cNvPr id="5" name="文本框 4"/>
          <p:cNvSpPr txBox="1"/>
          <p:nvPr/>
        </p:nvSpPr>
        <p:spPr>
          <a:xfrm>
            <a:off x="4739640" y="987425"/>
            <a:ext cx="3048000" cy="306705"/>
          </a:xfrm>
          <a:prstGeom prst="rect">
            <a:avLst/>
          </a:prstGeom>
          <a:noFill/>
        </p:spPr>
        <p:txBody>
          <a:bodyPr wrap="square" rtlCol="0">
            <a:spAutoFit/>
          </a:bodyPr>
          <a:p>
            <a:r>
              <a:rPr lang="zh-CN" altLang="en-US"/>
              <a:t>直接与间接效应：</a:t>
            </a:r>
            <a:endParaRPr lang="zh-CN" altLang="en-US"/>
          </a:p>
        </p:txBody>
      </p:sp>
      <p:sp>
        <p:nvSpPr>
          <p:cNvPr id="6" name="文本框 5"/>
          <p:cNvSpPr txBox="1"/>
          <p:nvPr/>
        </p:nvSpPr>
        <p:spPr>
          <a:xfrm>
            <a:off x="4739640" y="2504440"/>
            <a:ext cx="4037965" cy="1814830"/>
          </a:xfrm>
          <a:prstGeom prst="rect">
            <a:avLst/>
          </a:prstGeom>
          <a:noFill/>
        </p:spPr>
        <p:txBody>
          <a:bodyPr wrap="square" rtlCol="0">
            <a:spAutoFit/>
          </a:bodyPr>
          <a:p>
            <a:r>
              <a:rPr lang="zh-CN" altLang="en-US"/>
              <a:t>完全中介效应成立：分组（社交线索类型）通过感知有用性间接影响复用绩效（</a:t>
            </a:r>
            <a:r>
              <a:rPr lang="en-US" altLang="zh-CN"/>
              <a:t>β=-0.17, 95% CI [-0.33, -0.04]</a:t>
            </a:r>
            <a:r>
              <a:rPr lang="zh-CN" altLang="en-US"/>
              <a:t>），直接效应不显著（</a:t>
            </a:r>
            <a:r>
              <a:rPr lang="en-US" altLang="zh-CN"/>
              <a:t>p=0.114</a:t>
            </a:r>
            <a:r>
              <a:rPr lang="zh-CN" altLang="en-US"/>
              <a:t>）。</a:t>
            </a:r>
            <a:endParaRPr lang="zh-CN" altLang="en-US"/>
          </a:p>
          <a:p>
            <a:endParaRPr lang="zh-CN" altLang="en-US"/>
          </a:p>
          <a:p>
            <a:endParaRPr lang="zh-CN" altLang="en-US"/>
          </a:p>
          <a:p>
            <a:r>
              <a:rPr lang="zh-CN" altLang="en-US"/>
              <a:t>路径解释：第三组（身份信息）因感知有用性较低（</a:t>
            </a:r>
            <a:r>
              <a:rPr lang="en-US" altLang="zh-CN"/>
              <a:t>β=-0.256</a:t>
            </a:r>
            <a:r>
              <a:rPr lang="zh-CN" altLang="en-US"/>
              <a:t>），导致复用难度增加或绩效下降（</a:t>
            </a:r>
            <a:r>
              <a:rPr lang="en-US" altLang="zh-CN"/>
              <a:t>β=0.673</a:t>
            </a:r>
            <a:r>
              <a:rPr lang="zh-CN" altLang="en-US"/>
              <a:t>）。</a:t>
            </a:r>
            <a:endParaRPr lang="zh-CN" altLang="en-US"/>
          </a:p>
        </p:txBody>
      </p:sp>
      <p:sp>
        <p:nvSpPr>
          <p:cNvPr id="8" name="文本框 7"/>
          <p:cNvSpPr txBox="1"/>
          <p:nvPr/>
        </p:nvSpPr>
        <p:spPr>
          <a:xfrm>
            <a:off x="528320" y="981075"/>
            <a:ext cx="3048000" cy="306705"/>
          </a:xfrm>
          <a:prstGeom prst="rect">
            <a:avLst/>
          </a:prstGeom>
          <a:noFill/>
        </p:spPr>
        <p:txBody>
          <a:bodyPr wrap="square" rtlCol="0">
            <a:spAutoFit/>
          </a:bodyPr>
          <a:p>
            <a:r>
              <a:rPr lang="zh-CN" altLang="en-US">
                <a:solidFill>
                  <a:srgbClr val="FF0000"/>
                </a:solidFill>
              </a:rPr>
              <a:t>中介效应分析</a:t>
            </a:r>
            <a:endParaRPr lang="zh-CN" altLang="en-US">
              <a:solidFill>
                <a:srgbClr val="FF0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0"/>
          <p:cNvSpPr txBox="1"/>
          <p:nvPr/>
        </p:nvSpPr>
        <p:spPr>
          <a:xfrm>
            <a:off x="798765" y="1968925"/>
            <a:ext cx="4884161" cy="1137285"/>
          </a:xfrm>
          <a:prstGeom prst="rect">
            <a:avLst/>
          </a:prstGeom>
          <a:noFill/>
        </p:spPr>
        <p:txBody>
          <a:bodyPr wrap="square" rtlCol="0">
            <a:spAutoFit/>
          </a:bodyPr>
          <a:lstStyle/>
          <a:p>
            <a:r>
              <a:rPr lang="zh-CN" altLang="en-US" sz="3600" dirty="0">
                <a:solidFill>
                  <a:srgbClr val="33495E"/>
                </a:solidFill>
                <a:latin typeface="微软雅黑" pitchFamily="34" charset="-122"/>
                <a:ea typeface="微软雅黑" pitchFamily="34" charset="-122"/>
                <a:sym typeface="+mn-ea"/>
              </a:rPr>
              <a:t>后期研究工作</a:t>
            </a:r>
            <a:endParaRPr lang="en-US" altLang="zh-CN" sz="3600" dirty="0" smtClean="0">
              <a:solidFill>
                <a:srgbClr val="33495E"/>
              </a:solidFill>
              <a:latin typeface="微软雅黑" pitchFamily="34" charset="-122"/>
              <a:ea typeface="微软雅黑" pitchFamily="34" charset="-122"/>
              <a:sym typeface="+mn-ea"/>
            </a:endParaRPr>
          </a:p>
          <a:p>
            <a:r>
              <a:rPr lang="en-US" altLang="zh-CN" sz="1600" dirty="0">
                <a:solidFill>
                  <a:srgbClr val="33495E"/>
                </a:solidFill>
                <a:latin typeface="微软雅黑" pitchFamily="34" charset="-122"/>
                <a:ea typeface="微软雅黑" pitchFamily="34" charset="-122"/>
                <a:sym typeface="+mn-ea"/>
              </a:rPr>
              <a:t>Post research work</a:t>
            </a:r>
            <a:endParaRPr lang="en-US" altLang="zh-CN" sz="1600" dirty="0">
              <a:solidFill>
                <a:srgbClr val="33495E"/>
              </a:solidFill>
              <a:latin typeface="微软雅黑" pitchFamily="34" charset="-122"/>
              <a:ea typeface="微软雅黑" pitchFamily="34" charset="-122"/>
              <a:sym typeface="+mn-ea"/>
            </a:endParaRPr>
          </a:p>
          <a:p>
            <a:endParaRPr lang="zh-CN" altLang="en-US" sz="1600" dirty="0">
              <a:solidFill>
                <a:srgbClr val="33495E"/>
              </a:solidFill>
              <a:latin typeface="微软雅黑" pitchFamily="34" charset="-122"/>
              <a:ea typeface="微软雅黑" pitchFamily="34" charset="-122"/>
              <a:sym typeface="+mn-ea"/>
            </a:endParaRPr>
          </a:p>
        </p:txBody>
      </p:sp>
      <p:sp>
        <p:nvSpPr>
          <p:cNvPr id="10" name="文本框 11"/>
          <p:cNvSpPr txBox="1"/>
          <p:nvPr/>
        </p:nvSpPr>
        <p:spPr>
          <a:xfrm>
            <a:off x="798765" y="1267549"/>
            <a:ext cx="3251597" cy="807913"/>
          </a:xfrm>
          <a:prstGeom prst="rect">
            <a:avLst/>
          </a:prstGeom>
          <a:noFill/>
        </p:spPr>
        <p:txBody>
          <a:bodyPr wrap="square" lIns="68580" tIns="34290" rIns="68580" bIns="34290" rtlCol="0">
            <a:spAutoFit/>
          </a:bodyPr>
          <a:lstStyle/>
          <a:p>
            <a:r>
              <a:rPr lang="en-US" altLang="zh-CN" sz="4800" dirty="0" smtClean="0">
                <a:solidFill>
                  <a:srgbClr val="33495E"/>
                </a:solidFill>
                <a:latin typeface="微软雅黑" pitchFamily="34" charset="-122"/>
                <a:ea typeface="微软雅黑" pitchFamily="34" charset="-122"/>
                <a:sym typeface="+mn-ea"/>
              </a:rPr>
              <a:t>PART 04</a:t>
            </a:r>
            <a:endParaRPr lang="zh-CN" altLang="en-US" sz="4800" dirty="0">
              <a:solidFill>
                <a:srgbClr val="33495E"/>
              </a:solidFill>
              <a:latin typeface="微软雅黑" pitchFamily="34" charset="-122"/>
              <a:ea typeface="微软雅黑" pitchFamily="34" charset="-122"/>
              <a:sym typeface="+mn-ea"/>
            </a:endParaRPr>
          </a:p>
        </p:txBody>
      </p:sp>
      <p:sp>
        <p:nvSpPr>
          <p:cNvPr id="13" name="矩形 12"/>
          <p:cNvSpPr/>
          <p:nvPr/>
        </p:nvSpPr>
        <p:spPr>
          <a:xfrm>
            <a:off x="901635" y="2898478"/>
            <a:ext cx="620754" cy="28800"/>
          </a:xfrm>
          <a:prstGeom prst="rect">
            <a:avLst/>
          </a:prstGeom>
          <a:solidFill>
            <a:srgbClr val="334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rgbClr val="33495E"/>
              </a:solidFill>
            </a:endParaRPr>
          </a:p>
        </p:txBody>
      </p:sp>
      <p:sp>
        <p:nvSpPr>
          <p:cNvPr id="7" name="文本框 11"/>
          <p:cNvSpPr txBox="1"/>
          <p:nvPr/>
        </p:nvSpPr>
        <p:spPr>
          <a:xfrm>
            <a:off x="5106357" y="1027075"/>
            <a:ext cx="3251597" cy="3131627"/>
          </a:xfrm>
          <a:prstGeom prst="rect">
            <a:avLst/>
          </a:prstGeom>
          <a:noFill/>
        </p:spPr>
        <p:txBody>
          <a:bodyPr wrap="square" lIns="68580" tIns="34290" rIns="68580" bIns="34290" rtlCol="0">
            <a:spAutoFit/>
          </a:bodyPr>
          <a:lstStyle/>
          <a:p>
            <a:r>
              <a:rPr lang="en-US" altLang="zh-CN" sz="19900" i="1" dirty="0" smtClean="0">
                <a:solidFill>
                  <a:srgbClr val="DCE3E8"/>
                </a:solidFill>
                <a:latin typeface="微软雅黑" pitchFamily="34" charset="-122"/>
                <a:ea typeface="微软雅黑" pitchFamily="34" charset="-122"/>
                <a:sym typeface="+mn-ea"/>
              </a:rPr>
              <a:t>04</a:t>
            </a:r>
            <a:endParaRPr lang="zh-CN" altLang="en-US" sz="19900" i="1" dirty="0">
              <a:solidFill>
                <a:srgbClr val="DCE3E8"/>
              </a:solidFill>
              <a:latin typeface="微软雅黑" pitchFamily="34" charset="-122"/>
              <a:ea typeface="微软雅黑"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 name="文本框 10"/>
          <p:cNvSpPr txBox="1"/>
          <p:nvPr/>
        </p:nvSpPr>
        <p:spPr>
          <a:xfrm>
            <a:off x="3200308" y="474154"/>
            <a:ext cx="2633877" cy="514350"/>
          </a:xfrm>
          <a:prstGeom prst="rect">
            <a:avLst/>
          </a:prstGeom>
          <a:noFill/>
        </p:spPr>
        <p:txBody>
          <a:bodyPr wrap="square" rtlCol="0">
            <a:spAutoFit/>
          </a:bodyPr>
          <a:lstStyle/>
          <a:p>
            <a:pPr algn="ctr"/>
            <a:r>
              <a:rPr lang="zh-CN" altLang="en-US" sz="1800" dirty="0">
                <a:solidFill>
                  <a:srgbClr val="33495E"/>
                </a:solidFill>
                <a:latin typeface="微软雅黑" pitchFamily="34" charset="-122"/>
                <a:ea typeface="微软雅黑" pitchFamily="34" charset="-122"/>
                <a:sym typeface="+mn-ea"/>
              </a:rPr>
              <a:t>后期研究工作</a:t>
            </a:r>
            <a:endParaRPr lang="en-US" altLang="zh-CN" sz="1800" dirty="0" smtClean="0">
              <a:solidFill>
                <a:srgbClr val="33495E"/>
              </a:solidFill>
              <a:latin typeface="微软雅黑" pitchFamily="34" charset="-122"/>
              <a:ea typeface="微软雅黑" pitchFamily="34" charset="-122"/>
              <a:sym typeface="+mn-ea"/>
            </a:endParaRPr>
          </a:p>
          <a:p>
            <a:pPr algn="ctr"/>
            <a:r>
              <a:rPr lang="en-US" altLang="zh-CN" sz="950" dirty="0">
                <a:solidFill>
                  <a:srgbClr val="33495E"/>
                </a:solidFill>
                <a:latin typeface="微软雅黑" pitchFamily="34" charset="-122"/>
                <a:ea typeface="微软雅黑" pitchFamily="34" charset="-122"/>
                <a:sym typeface="+mn-ea"/>
              </a:rPr>
              <a:t>Post research work</a:t>
            </a:r>
            <a:endParaRPr lang="en-US" altLang="zh-CN" sz="950" dirty="0">
              <a:solidFill>
                <a:srgbClr val="33495E"/>
              </a:solidFill>
              <a:latin typeface="微软雅黑" pitchFamily="34" charset="-122"/>
              <a:ea typeface="微软雅黑" pitchFamily="34" charset="-122"/>
              <a:sym typeface="+mn-ea"/>
            </a:endParaRPr>
          </a:p>
        </p:txBody>
      </p:sp>
      <p:pic>
        <p:nvPicPr>
          <p:cNvPr id="4" name="图片 4" descr="QQ_1742384710743"/>
          <p:cNvPicPr>
            <a:picLocks noChangeAspect="1"/>
          </p:cNvPicPr>
          <p:nvPr/>
        </p:nvPicPr>
        <p:blipFill>
          <a:blip r:embed="rId1"/>
          <a:stretch>
            <a:fillRect/>
          </a:stretch>
        </p:blipFill>
        <p:spPr>
          <a:xfrm>
            <a:off x="548005" y="1129030"/>
            <a:ext cx="3958590" cy="3218180"/>
          </a:xfrm>
          <a:prstGeom prst="rect">
            <a:avLst/>
          </a:prstGeom>
        </p:spPr>
      </p:pic>
      <p:sp>
        <p:nvSpPr>
          <p:cNvPr id="2" name="文本框 1"/>
          <p:cNvSpPr txBox="1"/>
          <p:nvPr/>
        </p:nvSpPr>
        <p:spPr>
          <a:xfrm>
            <a:off x="4821555" y="988695"/>
            <a:ext cx="3393440" cy="737235"/>
          </a:xfrm>
          <a:prstGeom prst="rect">
            <a:avLst/>
          </a:prstGeom>
          <a:noFill/>
        </p:spPr>
        <p:txBody>
          <a:bodyPr wrap="square" rtlCol="0">
            <a:spAutoFit/>
          </a:bodyPr>
          <a:p>
            <a:r>
              <a:rPr lang="zh-CN" altLang="en-US"/>
              <a:t>（</a:t>
            </a:r>
            <a:r>
              <a:rPr lang="en-US" altLang="zh-CN"/>
              <a:t>1</a:t>
            </a:r>
            <a:r>
              <a:rPr lang="zh-CN" altLang="en-US"/>
              <a:t>）行为特征差异分析的深化与补充</a:t>
            </a:r>
            <a:endParaRPr lang="zh-CN" altLang="en-US"/>
          </a:p>
          <a:p>
            <a:endParaRPr lang="zh-CN" altLang="en-US"/>
          </a:p>
          <a:p>
            <a:r>
              <a:rPr lang="en-US" altLang="zh-CN"/>
              <a:t>                </a:t>
            </a:r>
            <a:r>
              <a:rPr lang="zh-CN" altLang="en-US"/>
              <a:t>完成</a:t>
            </a:r>
            <a:r>
              <a:rPr lang="zh-CN" altLang="en-US">
                <a:solidFill>
                  <a:srgbClr val="FF0000"/>
                </a:solidFill>
              </a:rPr>
              <a:t>数据可视化</a:t>
            </a:r>
            <a:r>
              <a:rPr lang="zh-CN" altLang="en-US"/>
              <a:t>完善</a:t>
            </a:r>
            <a:endParaRPr lang="zh-CN" altLang="en-US"/>
          </a:p>
        </p:txBody>
      </p:sp>
      <p:sp>
        <p:nvSpPr>
          <p:cNvPr id="3" name="文本框 2"/>
          <p:cNvSpPr txBox="1"/>
          <p:nvPr/>
        </p:nvSpPr>
        <p:spPr>
          <a:xfrm>
            <a:off x="4879340" y="1892300"/>
            <a:ext cx="3766820" cy="2030095"/>
          </a:xfrm>
          <a:prstGeom prst="rect">
            <a:avLst/>
          </a:prstGeom>
          <a:noFill/>
        </p:spPr>
        <p:txBody>
          <a:bodyPr wrap="square" rtlCol="0">
            <a:spAutoFit/>
          </a:bodyPr>
          <a:p>
            <a:r>
              <a:rPr lang="zh-CN" altLang="en-US"/>
              <a:t>（</a:t>
            </a:r>
            <a:r>
              <a:rPr lang="en-US" altLang="zh-CN"/>
              <a:t>2</a:t>
            </a:r>
            <a:r>
              <a:rPr lang="zh-CN" altLang="en-US"/>
              <a:t>）行为模式探索的具体实施</a:t>
            </a:r>
            <a:endParaRPr lang="zh-CN" altLang="en-US"/>
          </a:p>
          <a:p>
            <a:endParaRPr lang="zh-CN" altLang="en-US"/>
          </a:p>
          <a:p>
            <a:r>
              <a:rPr lang="zh-CN" altLang="en-US"/>
              <a:t>行为路径数据</a:t>
            </a:r>
            <a:r>
              <a:rPr lang="zh-CN" altLang="en-US">
                <a:solidFill>
                  <a:srgbClr val="FF0000"/>
                </a:solidFill>
              </a:rPr>
              <a:t>单元化编码</a:t>
            </a:r>
            <a:r>
              <a:rPr lang="zh-CN" altLang="en-US"/>
              <a:t>，定义行为类型标签</a:t>
            </a:r>
            <a:r>
              <a:rPr lang="en-US" altLang="zh-CN"/>
              <a:t>。</a:t>
            </a:r>
            <a:endParaRPr lang="en-US" altLang="zh-CN"/>
          </a:p>
          <a:p>
            <a:endParaRPr lang="zh-CN" altLang="en-US"/>
          </a:p>
          <a:p>
            <a:r>
              <a:rPr lang="zh-CN" altLang="en-US"/>
              <a:t>路径矩阵构建，行为序列转化为状态转移矩阵</a:t>
            </a:r>
            <a:endParaRPr lang="zh-CN" altLang="en-US"/>
          </a:p>
          <a:p>
            <a:endParaRPr lang="zh-CN" altLang="en-US"/>
          </a:p>
          <a:p>
            <a:r>
              <a:rPr lang="zh-CN" altLang="en-US">
                <a:solidFill>
                  <a:srgbClr val="FF0000"/>
                </a:solidFill>
              </a:rPr>
              <a:t>聚类分析</a:t>
            </a:r>
            <a:r>
              <a:rPr lang="zh-CN" altLang="en-US"/>
              <a:t>与模式识别</a:t>
            </a:r>
            <a:endParaRPr lang="zh-CN" altLang="en-US"/>
          </a:p>
          <a:p>
            <a:endParaRPr lang="zh-CN" altLang="en-US"/>
          </a:p>
          <a:p>
            <a:r>
              <a:rPr lang="zh-CN" altLang="en-US"/>
              <a:t>总结每组主流的</a:t>
            </a:r>
            <a:r>
              <a:rPr lang="zh-CN" altLang="en-US">
                <a:solidFill>
                  <a:srgbClr val="FF0000"/>
                </a:solidFill>
              </a:rPr>
              <a:t>行为模式</a:t>
            </a:r>
            <a:endParaRPr lang="zh-CN" altLang="en-US">
              <a:solidFill>
                <a:srgbClr val="FF0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435781" y="1245349"/>
            <a:ext cx="4272439" cy="1177245"/>
          </a:xfrm>
          <a:prstGeom prst="rect">
            <a:avLst/>
          </a:prstGeom>
          <a:noFill/>
        </p:spPr>
        <p:txBody>
          <a:bodyPr wrap="square" lIns="68580" tIns="34290" rIns="68580" bIns="34290" rtlCol="0">
            <a:spAutoFit/>
          </a:bodyPr>
          <a:lstStyle/>
          <a:p>
            <a:pPr algn="ctr">
              <a:defRPr/>
            </a:pPr>
            <a:r>
              <a:rPr lang="en-US" altLang="zh-CN" sz="7200" dirty="0">
                <a:solidFill>
                  <a:srgbClr val="33495E"/>
                </a:solidFill>
                <a:latin typeface="微软雅黑" pitchFamily="34" charset="-122"/>
                <a:ea typeface="微软雅黑" pitchFamily="34" charset="-122"/>
                <a:sym typeface="+mn-ea"/>
              </a:rPr>
              <a:t>THANKS</a:t>
            </a:r>
            <a:endParaRPr lang="en-US" altLang="zh-CN" sz="7200" dirty="0">
              <a:solidFill>
                <a:srgbClr val="33495E"/>
              </a:solidFill>
              <a:latin typeface="微软雅黑" pitchFamily="34" charset="-122"/>
              <a:ea typeface="微软雅黑" pitchFamily="34" charset="-122"/>
              <a:sym typeface="+mn-ea"/>
            </a:endParaRPr>
          </a:p>
        </p:txBody>
      </p:sp>
      <p:sp>
        <p:nvSpPr>
          <p:cNvPr id="2" name="文本框 1"/>
          <p:cNvSpPr txBox="1"/>
          <p:nvPr/>
        </p:nvSpPr>
        <p:spPr>
          <a:xfrm>
            <a:off x="3542110" y="2180959"/>
            <a:ext cx="2059781" cy="560705"/>
          </a:xfrm>
          <a:prstGeom prst="rect">
            <a:avLst/>
          </a:prstGeom>
          <a:noFill/>
        </p:spPr>
        <p:txBody>
          <a:bodyPr wrap="square" lIns="68580" tIns="34290" rIns="68580" bIns="34290" rtlCol="0">
            <a:spAutoFit/>
          </a:bodyPr>
          <a:lstStyle/>
          <a:p>
            <a:pPr algn="ctr">
              <a:defRPr/>
            </a:pPr>
            <a:r>
              <a:rPr lang="zh-CN" altLang="en-US" sz="3200" dirty="0">
                <a:solidFill>
                  <a:srgbClr val="33495E"/>
                </a:solidFill>
                <a:latin typeface="微软雅黑" pitchFamily="34" charset="-122"/>
                <a:ea typeface="微软雅黑" pitchFamily="34" charset="-122"/>
                <a:sym typeface="+mn-ea"/>
              </a:rPr>
              <a:t>感谢观看</a:t>
            </a:r>
            <a:endParaRPr lang="zh-CN" altLang="en-US" sz="3200" dirty="0">
              <a:solidFill>
                <a:srgbClr val="33495E"/>
              </a:solidFill>
              <a:latin typeface="微软雅黑" pitchFamily="34" charset="-122"/>
              <a:ea typeface="微软雅黑" pitchFamily="34" charset="-122"/>
              <a:sym typeface="+mn-ea"/>
            </a:endParaRPr>
          </a:p>
        </p:txBody>
      </p:sp>
      <p:grpSp>
        <p:nvGrpSpPr>
          <p:cNvPr id="12" name="组合 11"/>
          <p:cNvGrpSpPr/>
          <p:nvPr/>
        </p:nvGrpSpPr>
        <p:grpSpPr>
          <a:xfrm>
            <a:off x="2931097" y="3130459"/>
            <a:ext cx="3281806" cy="284029"/>
            <a:chOff x="3153258" y="4604579"/>
            <a:chExt cx="3080245" cy="216027"/>
          </a:xfrm>
          <a:solidFill>
            <a:srgbClr val="232323"/>
          </a:solidFill>
        </p:grpSpPr>
        <p:sp>
          <p:nvSpPr>
            <p:cNvPr id="13" name="矩形 26"/>
            <p:cNvSpPr/>
            <p:nvPr/>
          </p:nvSpPr>
          <p:spPr>
            <a:xfrm>
              <a:off x="3153258" y="4604582"/>
              <a:ext cx="1449873" cy="216024"/>
            </a:xfrm>
            <a:prstGeom prst="roundRect">
              <a:avLst/>
            </a:prstGeom>
            <a:solidFill>
              <a:srgbClr val="33495E"/>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dirty="0">
                  <a:solidFill>
                    <a:schemeClr val="bg1"/>
                  </a:solidFill>
                  <a:latin typeface="+mn-ea"/>
                </a:rPr>
                <a:t>答辩人</a:t>
              </a:r>
              <a:r>
                <a:rPr lang="zh-CN" altLang="en-US" sz="1300" dirty="0" smtClean="0">
                  <a:solidFill>
                    <a:schemeClr val="bg1"/>
                  </a:solidFill>
                  <a:latin typeface="+mn-ea"/>
                </a:rPr>
                <a:t>：</a:t>
              </a:r>
              <a:r>
                <a:rPr lang="zh-CN" altLang="en-US" sz="1300" dirty="0" smtClean="0">
                  <a:solidFill>
                    <a:schemeClr val="bg1"/>
                  </a:solidFill>
                  <a:latin typeface="+mn-ea"/>
                </a:rPr>
                <a:t>赵红玉</a:t>
              </a:r>
              <a:endParaRPr lang="zh-CN" altLang="en-US" sz="1300" dirty="0" smtClean="0">
                <a:solidFill>
                  <a:schemeClr val="bg1"/>
                </a:solidFill>
                <a:latin typeface="+mn-ea"/>
              </a:endParaRPr>
            </a:p>
          </p:txBody>
        </p:sp>
        <p:sp>
          <p:nvSpPr>
            <p:cNvPr id="14" name="矩形 27"/>
            <p:cNvSpPr/>
            <p:nvPr/>
          </p:nvSpPr>
          <p:spPr>
            <a:xfrm>
              <a:off x="4780313" y="4604579"/>
              <a:ext cx="1453190" cy="216024"/>
            </a:xfrm>
            <a:prstGeom prst="roundRect">
              <a:avLst/>
            </a:prstGeom>
            <a:solidFill>
              <a:srgbClr val="33495E"/>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dirty="0">
                  <a:solidFill>
                    <a:schemeClr val="bg1"/>
                  </a:solidFill>
                  <a:latin typeface="+mn-ea"/>
                </a:rPr>
                <a:t>导师</a:t>
              </a:r>
              <a:r>
                <a:rPr lang="zh-CN" altLang="en-US" sz="1300" dirty="0" smtClean="0">
                  <a:solidFill>
                    <a:schemeClr val="bg1"/>
                  </a:solidFill>
                  <a:latin typeface="+mn-ea"/>
                </a:rPr>
                <a:t>：</a:t>
              </a:r>
              <a:r>
                <a:rPr lang="zh-CN" altLang="en-US" sz="1300" dirty="0" smtClean="0">
                  <a:solidFill>
                    <a:schemeClr val="bg1"/>
                  </a:solidFill>
                  <a:latin typeface="+mn-ea"/>
                </a:rPr>
                <a:t>马续补</a:t>
              </a:r>
              <a:endParaRPr lang="zh-CN" altLang="en-US" sz="1300" dirty="0" smtClean="0">
                <a:solidFill>
                  <a:schemeClr val="bg1"/>
                </a:solidFill>
                <a:latin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900">
        <p14:warp/>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i*1_1"/>
  <p:tag name="KSO_WM_TEMPLATE_CATEGORY" val="diagram"/>
  <p:tag name="KSO_WM_TEMPLATE_INDEX" val="20235250"/>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UNIT_FILL_TYPE" val="3"/>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gradient&quot;:[{&quot;brightness&quot;:0.6000000238418579,&quot;colorType&quot;:1,&quot;foreColorIndex&quot;:5,&quot;pos&quot;:1,&quot;transparency&quot;:1},{&quot;brightness&quot;:0.6000000238418579,&quot;colorType&quot;:1,&quot;foreColorIndex&quot;:5,&quot;pos&quot;:0,&quot;transparency&quot;:1},{&quot;brightness&quot;:0.6000000238418579,&quot;colorType&quot;:1,&quot;foreColorIndex&quot;:5,&quot;pos&quot;:0.5699999928474426,&quot;transparency&quot;:0.800000011920929},{&quot;brightness&quot;:0.6000000238418579,&quot;colorType&quot;:1,&quot;foreColorIndex&quot;:5,&quot;pos&quot;:0.4300000071525574,&quot;transparency&quot;:0.80000001192092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h_i*1_1_1"/>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type&quot;:0},&quot;glow&quot;:{&quot;colorType&quot;:0},&quot;line&quot;:{&quot;gradient&quot;:[{&quot;brightness&quot;:0,&quot;colorType&quot;:1,&quot;foreColorIndex&quot;:5,&quot;pos&quot;:0.44999998807907104,&quot;transparency&quot;:0.699999988079071},{&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h_i*1_2_1"/>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type&quot;:0},&quot;glow&quot;:{&quot;colorType&quot;:0},&quot;line&quot;:{&quot;gradient&quot;:[{&quot;brightness&quot;:0,&quot;colorType&quot;:1,&quot;foreColorIndex&quot;:5,&quot;pos&quot;:0.44999998807907104,&quot;transparency&quot;:0.699999988079071},{&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h_i*1_3_1"/>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type&quot;:0},&quot;glow&quot;:{&quot;colorType&quot;:0},&quot;line&quot;:{&quot;gradient&quot;:[{&quot;brightness&quot;:0,&quot;colorType&quot;:1,&quot;foreColorIndex&quot;:5,&quot;pos&quot;:0.44999998807907104,&quot;transparency&quot;:0.699999988079071},{&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h_i*1_2_2"/>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solid&quot;:{&quot;brightness&quot;:0,&quot;colorType&quot;:2,&quot;rgb&quot;:&quot;#2c96f2&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h_i*1_1_2"/>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h_f*1_1_1"/>
  <p:tag name="KSO_WM_TEMPLATE_CATEGORY" val="diagram"/>
  <p:tag name="KSO_WM_TEMPLATE_INDEX" val="20235250"/>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VALUE" val="111"/>
  <p:tag name="KSO_WM_UNIT_PRESET_TEXT" val="根据需要可酌情增减文字，以便观者准确地理解您传达的思想单击此处添加文本具体内容，简明扼要地阐述您的观点，单击添加文本。"/>
  <p:tag name="KSO_WM_UNIT_TEXT_FILL_FORE_SCHEMECOLOR_INDEX" val="1"/>
  <p:tag name="KSO_WM_UNIT_TEXT_FILL_TYPE" val="1"/>
  <p:tag name="KSO_WM_UNIT_TEXT_TYPE" val="1"/>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h_f*1_2_1"/>
  <p:tag name="KSO_WM_TEMPLATE_CATEGORY" val="diagram"/>
  <p:tag name="KSO_WM_TEMPLATE_INDEX" val="20235250"/>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VALUE" val="111"/>
  <p:tag name="KSO_WM_UNIT_PRESET_TEXT" val="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UNIT_TEXT_TYPE" val="1"/>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h_f*1_3_1"/>
  <p:tag name="KSO_WM_TEMPLATE_CATEGORY" val="diagram"/>
  <p:tag name="KSO_WM_TEMPLATE_INDEX" val="20235250"/>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VALUE" val="111"/>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250_2*l_h_i*1_3_2"/>
  <p:tag name="KSO_WM_TEMPLATE_CATEGORY" val="diagram"/>
  <p:tag name="KSO_WM_TEMPLATE_INDEX" val="20235250"/>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6"/>
  <p:tag name="KSO_WM_DIAGRAM_MIN_ITEMCNT" val="2"/>
  <p:tag name="KSO_WM_DIAGRAM_VIRTUALLY_FRAME" val="{&quot;height&quot;:526.8564453125,&quot;left&quot;:-105.63595708892107,&quot;top&quot;:-65.52775021530513,&quot;width&quot;:915.1500244140625}"/>
  <p:tag name="KSO_WM_DIAGRAM_COLOR_MATCH_VALUE" val="{&quot;shape&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642_3*n_h_h_f*1_2_1_1"/>
  <p:tag name="KSO_WM_TEMPLATE_CATEGORY" val="diagram"/>
  <p:tag name="KSO_WM_TEMPLATE_INDEX" val="20231642"/>
  <p:tag name="KSO_WM_UNIT_LAYERLEVEL" val="1_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UNIT_VALUE" val="96"/>
  <p:tag name="KSO_WM_UNIT_TYPE" val="n_h_h_f"/>
  <p:tag name="KSO_WM_UNIT_INDEX" val="1_2_1_1"/>
  <p:tag name="KSO_WM_UNIT_PRESET_TEXT" val="单击此处添加正文，文字是您思想的提炼，请言简意赅的阐述您的观点。"/>
  <p:tag name="KSO_WM_UNIT_FILL_TYPE" val="3"/>
  <p:tag name="KSO_WM_UNIT_TEXT_FILL_FORE_SCHEMECOLOR_INDEX" val="1"/>
  <p:tag name="KSO_WM_UNIT_TEXT_FILL_TYPE" val="1"/>
  <p:tag name="KSO_WM_UNIT_TEXT_TYPE" val="1"/>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8999999761581421},{&quot;brightness&quot;:0,&quot;colorType&quot;:1,&quot;foreColorIndex&quot;:2,&quot;pos&quot;:1,&quot;transparency&quot;:1}],&quot;type&quot;:3},&quot;glow&quot;:{&quot;colorType&quot;:0},&quot;line&quot;:{&quot;gradient&quot;:[{&quot;brightness&quot;:0,&quot;colorType&quot;:1,&quot;foreColorIndex&quot;:14,&quot;pos&quot;:0,&quot;transparency&quot;:1},{&quot;brightness&quot;:0,&quot;colorType&quot;:1,&quot;foreColorIndex&quot;:6,&quot;pos&quot;:1,&quot;transparency&quot;:0.5}],&quot;type&quot;:2},&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2.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1"/>
  <p:tag name="KSO_WM_DIAGRAM_GROUP_CODE" val="n1-1"/>
  <p:tag name="KSO_WM_UNIT_INDEX" val="1_1_1"/>
  <p:tag name="KSO_WM_DIAGRAM_MAX_ITEMCNT" val="6"/>
  <p:tag name="KSO_WM_DIAGRAM_VIRTUALLY_FRAME" val="{&quot;height&quot;:384.04998779296875,&quot;left&quot;:-81.90930354561392,&quot;top&quot;:10.49536043422429,&quot;width&quot;:883.9000244140625}"/>
  <p:tag name="KSO_WM_UNIT_HIGHLIGHT" val="0"/>
  <p:tag name="KSO_WM_UNIT_DIAGRAM_ISNUMVISUAL" val="0"/>
  <p:tag name="KSO_WM_UNIT_ID" val="diagram20231642_3*n_h_a*1_1_1"/>
  <p:tag name="KSO_WM_TEMPLATE_INDEX" val="20231642"/>
  <p:tag name="KSO_WM_TAG_VERSION" val="3.0"/>
  <p:tag name="KSO_WM_DIAGRAM_VERSION" val="3"/>
  <p:tag name="KSO_WM_DIAGRAM_COLOR_TEXT_CAN_REMOVE" val="n"/>
  <p:tag name="KSO_WM_UNIT_ISCONTENTSTITLE" val="0"/>
  <p:tag name="KSO_WM_UNIT_ISNUMDGMTITLE" val="0"/>
  <p:tag name="KSO_WM_UNIT_NOCLEAR" val="0"/>
  <p:tag name="KSO_WM_UNIT_TYPE" val="n_h_a"/>
  <p:tag name="KSO_WM_DIAGRAM_MIN_ITEMCNT" val="2"/>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VALUE" val="42"/>
  <p:tag name="KSO_WM_UNIT_TEXT_TYPE" val="1"/>
  <p:tag name="KSO_WM_BEAUTIFY_FLAG" val="#wm#"/>
  <p:tag name="KSO_WM_UNIT_PRESET_TEXT" val="添加标题"/>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2_3*n_h_i*1_1_2"/>
  <p:tag name="KSO_WM_TEMPLATE_CATEGORY" val="diagram"/>
  <p:tag name="KSO_WM_TEMPLATE_INDEX" val="20231642"/>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2"/>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800000011920929},{&quot;brightness&quot;:0,&quot;colorType&quot;:1,&quot;foreColorIndex&quot;:5,&quot;pos&quot;:1,&quot;transparency&quot;:0.800000011920929}],&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42_3*n_h_i*1_1_1"/>
  <p:tag name="KSO_WM_TEMPLATE_CATEGORY" val="diagram"/>
  <p:tag name="KSO_WM_TEMPLATE_INDEX" val="20231642"/>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1"/>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642_3*n_h_h_f*1_2_2_1"/>
  <p:tag name="KSO_WM_TEMPLATE_CATEGORY" val="diagram"/>
  <p:tag name="KSO_WM_TEMPLATE_INDEX" val="20231642"/>
  <p:tag name="KSO_WM_UNIT_LAYERLEVEL" val="1_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UNIT_VALUE" val="96"/>
  <p:tag name="KSO_WM_UNIT_TYPE" val="n_h_h_f"/>
  <p:tag name="KSO_WM_UNIT_INDEX" val="1_2_2_1"/>
  <p:tag name="KSO_WM_UNIT_PRESET_TEXT" val="单击此处输入你的正文，文字是您思想的提炼，为了最终演示发布的良好效果，请言简意赅的阐述观点。"/>
  <p:tag name="KSO_WM_UNIT_FILL_TYPE" val="3"/>
  <p:tag name="KSO_WM_UNIT_TEXT_FILL_FORE_SCHEMECOLOR_INDEX" val="1"/>
  <p:tag name="KSO_WM_UNIT_TEXT_FILL_TYPE" val="1"/>
  <p:tag name="KSO_WM_UNIT_TEXT_TYPE" val="1"/>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8999999761581421},{&quot;brightness&quot;:0,&quot;colorType&quot;:1,&quot;foreColorIndex&quot;:2,&quot;pos&quot;:1,&quot;transparency&quot;:1}],&quot;type&quot;:3},&quot;glow&quot;:{&quot;colorType&quot;:0},&quot;line&quot;:{&quot;gradient&quot;:[{&quot;brightness&quot;:0,&quot;colorType&quot;:1,&quot;foreColorIndex&quot;:14,&quot;pos&quot;:0,&quot;transparency&quot;:1},{&quot;brightness&quot;:0,&quot;colorType&quot;:1,&quot;foreColorIndex&quot;:6,&quot;pos&quot;:1,&quot;transparency&quot;:0.5}],&quot;type&quot;:2},&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642_3*n_h_h_f*1_2_4_1"/>
  <p:tag name="KSO_WM_TEMPLATE_CATEGORY" val="diagram"/>
  <p:tag name="KSO_WM_TEMPLATE_INDEX" val="20231642"/>
  <p:tag name="KSO_WM_UNIT_LAYERLEVEL" val="1_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UNIT_VALUE" val="96"/>
  <p:tag name="KSO_WM_UNIT_TYPE" val="n_h_h_f"/>
  <p:tag name="KSO_WM_UNIT_INDEX" val="1_2_4_1"/>
  <p:tag name="KSO_WM_UNIT_PRESET_TEXT" val="单击此处添加正文，文字是您思想的提炼，请言简意赅的阐述您的观点。"/>
  <p:tag name="KSO_WM_UNIT_FILL_TYPE" val="3"/>
  <p:tag name="KSO_WM_UNIT_TEXT_FILL_FORE_SCHEMECOLOR_INDEX" val="1"/>
  <p:tag name="KSO_WM_UNIT_TEXT_FILL_TYPE" val="1"/>
  <p:tag name="KSO_WM_UNIT_TEXT_TYPE" val="1"/>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8999999761581421},{&quot;brightness&quot;:0,&quot;colorType&quot;:1,&quot;foreColorIndex&quot;:2,&quot;pos&quot;:1,&quot;transparency&quot;:1}],&quot;type&quot;:3},&quot;glow&quot;:{&quot;colorType&quot;:0},&quot;line&quot;:{&quot;gradient&quot;:[{&quot;brightness&quot;:0,&quot;colorType&quot;:1,&quot;foreColorIndex&quot;:14,&quot;pos&quot;:0,&quot;transparency&quot;:1},{&quot;brightness&quot;:0,&quot;colorType&quot;:1,&quot;foreColorIndex&quot;:6,&quot;pos&quot;:1,&quot;transparency&quot;:0.5}],&quot;type&quot;:2},&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1"/>
  <p:tag name="KSO_WM_UNIT_ID" val="diagram20231642_3*n_h_h_i*1_2_2_1"/>
  <p:tag name="KSO_WM_TEMPLATE_CATEGORY" val="diagram"/>
  <p:tag name="KSO_WM_TEMPLATE_INDEX" val="20231642"/>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6000000238418579,&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DIAGRAM_USE_COLOR_VALUE" val="{&quot;color_scheme&quot;:1,&quot;color_type&quot;:1,&quot;theme_color_indexes&quot;:[5,6,5,6,5,6]}"/>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3_1"/>
  <p:tag name="KSO_WM_UNIT_ID" val="diagram20231642_3*n_h_h_i*1_2_3_1"/>
  <p:tag name="KSO_WM_TEMPLATE_CATEGORY" val="diagram"/>
  <p:tag name="KSO_WM_TEMPLATE_INDEX" val="20231642"/>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6000000238418579,&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DIAGRAM_USE_COLOR_VALUE" val="{&quot;color_scheme&quot;:1,&quot;color_type&quot;:1,&quot;theme_color_indexes&quot;:[5,6,5,6,5,6]}"/>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642_3*n_h_h_f*1_2_3_1"/>
  <p:tag name="KSO_WM_TEMPLATE_CATEGORY" val="diagram"/>
  <p:tag name="KSO_WM_TEMPLATE_INDEX" val="20231642"/>
  <p:tag name="KSO_WM_UNIT_LAYERLEVEL" val="1_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UNIT_VALUE" val="96"/>
  <p:tag name="KSO_WM_UNIT_TYPE" val="n_h_h_f"/>
  <p:tag name="KSO_WM_UNIT_INDEX" val="1_2_3_1"/>
  <p:tag name="KSO_WM_UNIT_PRESET_TEXT" val="单击此处输入你的正文，文字是您思想的提炼，为了最终演示发布的良好效果，请言简意赅的阐述观点。"/>
  <p:tag name="KSO_WM_UNIT_FILL_TYPE" val="3"/>
  <p:tag name="KSO_WM_UNIT_TEXT_FILL_FORE_SCHEMECOLOR_INDEX" val="1"/>
  <p:tag name="KSO_WM_UNIT_TEXT_FILL_TYPE" val="1"/>
  <p:tag name="KSO_WM_UNIT_TEXT_TYPE" val="1"/>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8999999761581421},{&quot;brightness&quot;:0,&quot;colorType&quot;:1,&quot;foreColorIndex&quot;:2,&quot;pos&quot;:1,&quot;transparency&quot;:1}],&quot;type&quot;:3},&quot;glow&quot;:{&quot;colorType&quot;:0},&quot;line&quot;:{&quot;gradient&quot;:[{&quot;brightness&quot;:0,&quot;colorType&quot;:1,&quot;foreColorIndex&quot;:14,&quot;pos&quot;:0,&quot;transparency&quot;:1},{&quot;brightness&quot;:0,&quot;colorType&quot;:1,&quot;foreColorIndex&quot;:6,&quot;pos&quot;:1,&quot;transparency&quot;:0.5}],&quot;type&quot;:2},&quot;shadow&quot;:{&quot;brightness&quot;:0,&quot;colorType&quot;:2,&quot;rgb&quot;:&quot;#000000&quot;,&quot;transparency&quot;:0.6000000238418579},&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1"/>
  <p:tag name="KSO_WM_UNIT_ID" val="diagram20231642_3*n_h_h_i*1_2_1_1"/>
  <p:tag name="KSO_WM_TEMPLATE_CATEGORY" val="diagram"/>
  <p:tag name="KSO_WM_TEMPLATE_INDEX" val="20231642"/>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6000000238418579,&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DIAGRAM_USE_COLOR_VALUE" val="{&quot;color_scheme&quot;:1,&quot;color_type&quot;:1,&quot;theme_color_indexes&quot;:[5,6,5,6,5,6]}"/>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4_1"/>
  <p:tag name="KSO_WM_UNIT_ID" val="diagram20231642_3*n_h_h_i*1_2_4_1"/>
  <p:tag name="KSO_WM_TEMPLATE_CATEGORY" val="diagram"/>
  <p:tag name="KSO_WM_TEMPLATE_INDEX" val="20231642"/>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4.04998779296875,&quot;left&quot;:-81.90930354561392,&quot;top&quot;:10.49536043422429,&quot;width&quot;:883.9000244140625}"/>
  <p:tag name="KSO_WM_DIAGRAM_COLOR_MATCH_VALUE" val="{&quot;shape&quot;:{&quot;fill&quot;:{&quot;gradient&quot;:[{&quot;brightness&quot;:0,&quot;colorType&quot;:1,&quot;foreColorIndex&quot;:6,&quot;pos&quot;:0,&quot;transparency&quot;:0},{&quot;brightness&quot;:0,&quot;colorType&quot;:1,&quot;foreColorIndex&quot;:5,&quot;pos&quot;:1,&quot;transparency&quot;:0}],&quot;type&quot;:3},&quot;glow&quot;:{&quot;colorType&quot;:0},&quot;line&quot;:{&quot;type&quot;:0},&quot;shadow&quot;:{&quot;brightness&quot;:0.6000000238418579,&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BEAUTIFY_FLAG" val="#wm#"/>
  <p:tag name="KSO_WM_UNIT_FILL_TYPE" val="3"/>
  <p:tag name="KSO_WM_DIAGRAM_USE_COLOR_VALUE" val="{&quot;color_scheme&quot;:1,&quot;color_type&quot;:1,&quot;theme_color_indexes&quot;:[5,6,5,6,5,6]}"/>
</p:tagLst>
</file>

<file path=ppt/tags/tag22.xml><?xml version="1.0" encoding="utf-8"?>
<p:tagLst xmlns:p="http://schemas.openxmlformats.org/presentationml/2006/main">
  <p:tag name="COMMONDATA" val="eyJoZGlkIjoiYThkMzk3NzM1NjI1NTg5NjFmNzQyY2UyOTg2MjEzNGMifQ=="/>
  <p:tag name="resource_record_key" val="{&quot;70&quot;:[3403042,3318893]}"/>
</p:tagLst>
</file>

<file path=ppt/theme/theme1.xml><?xml version="1.0" encoding="utf-8"?>
<a:theme xmlns:a="http://schemas.openxmlformats.org/drawingml/2006/main" name="Qzus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2430</Words>
  <Application>WPS 表格</Application>
  <PresentationFormat>全屏显示(16:9)</PresentationFormat>
  <Paragraphs>245</Paragraphs>
  <Slides>21</Slides>
  <Notes>18</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39" baseType="lpstr">
      <vt:lpstr>Arial</vt:lpstr>
      <vt:lpstr>宋体</vt:lpstr>
      <vt:lpstr>Wingdings</vt:lpstr>
      <vt:lpstr>微软雅黑</vt:lpstr>
      <vt:lpstr>Open Sans Light</vt:lpstr>
      <vt:lpstr>汉仪书宋二KW</vt:lpstr>
      <vt:lpstr>宋体</vt:lpstr>
      <vt:lpstr>Arial Unicode MS</vt:lpstr>
      <vt:lpstr>Calibri</vt:lpstr>
      <vt:lpstr>苹方-简</vt:lpstr>
      <vt:lpstr>微软雅黑</vt:lpstr>
      <vt:lpstr>汉仪文黑-55简</vt:lpstr>
      <vt:lpstr>汉仪中黑KW</vt:lpstr>
      <vt:lpstr>Inter</vt:lpstr>
      <vt:lpstr>Arial</vt:lpstr>
      <vt:lpstr>Thonburi</vt:lpstr>
      <vt:lpstr>Qzuser</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qzuser;</dc:title>
  <dc:creator>qzuser</dc:creator>
  <cp:keywords>qzuser</cp:keywords>
  <dc:description>qzuser</dc:description>
  <cp:lastModifiedBy>ぇッャ</cp:lastModifiedBy>
  <cp:revision>122</cp:revision>
  <dcterms:created xsi:type="dcterms:W3CDTF">2025-03-20T17:52:59Z</dcterms:created>
  <dcterms:modified xsi:type="dcterms:W3CDTF">2025-03-20T17:52:59Z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2052-6.14.0.8924</vt:lpwstr>
  </property>
  <property fmtid="{D5CDD505-2E9C-101B-9397-08002B2CF9AE}" pid="3" name="ICV">
    <vt:lpwstr>E17BCC34CA6488431B11DC674C9B1E1B_41</vt:lpwstr>
  </property>
</Properties>
</file>